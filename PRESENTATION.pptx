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14"/>
    <p:sldId id="267" r:id="rId15"/>
    <p:sldId id="271" r:id="rId16"/>
    <p:sldId id="269" r:id="rId17"/>
    <p:sldId id="272" r:id="rId18"/>
    <p:sldId id="275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EB062B-6404-436F-AD58-1BFE9927A8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A2BA559-6A0E-449B-8AD4-256DB66E11B2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آنتروپی بالاتر</a:t>
          </a:r>
          <a:endParaRPr lang="en-US" dirty="0"/>
        </a:p>
      </dgm:t>
    </dgm:pt>
    <dgm:pt modelId="{C4D8D134-40EA-49DE-B558-2561BB7A28B4}" type="parTrans" cxnId="{C6E420B1-D262-4944-9651-63A90EA8332E}">
      <dgm:prSet/>
      <dgm:spPr/>
      <dgm:t>
        <a:bodyPr/>
        <a:lstStyle/>
        <a:p>
          <a:endParaRPr lang="en-US"/>
        </a:p>
      </dgm:t>
    </dgm:pt>
    <dgm:pt modelId="{ABB3FA03-AF85-46AC-9AD3-018C0F37D42C}" type="sibTrans" cxnId="{C6E420B1-D262-4944-9651-63A90EA8332E}">
      <dgm:prSet/>
      <dgm:spPr/>
      <dgm:t>
        <a:bodyPr/>
        <a:lstStyle/>
        <a:p>
          <a:endParaRPr lang="en-US"/>
        </a:p>
      </dgm:t>
    </dgm:pt>
    <dgm:pt modelId="{ACFE388C-CCD9-43E7-8F26-8BB80F1791EF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جزئیات بیشتر </a:t>
          </a:r>
          <a:endParaRPr lang="en-US" dirty="0"/>
        </a:p>
      </dgm:t>
    </dgm:pt>
    <dgm:pt modelId="{E4AC73A5-BACF-49CA-8527-161B6E4C800D}" type="parTrans" cxnId="{DD82D9C6-3722-45BD-B0C0-B2BB0C40B741}">
      <dgm:prSet/>
      <dgm:spPr/>
      <dgm:t>
        <a:bodyPr/>
        <a:lstStyle/>
        <a:p>
          <a:endParaRPr lang="en-US"/>
        </a:p>
      </dgm:t>
    </dgm:pt>
    <dgm:pt modelId="{98150C68-F1E1-4062-BC93-C4F5B533E3F5}" type="sibTrans" cxnId="{DD82D9C6-3722-45BD-B0C0-B2BB0C40B741}">
      <dgm:prSet/>
      <dgm:spPr/>
      <dgm:t>
        <a:bodyPr/>
        <a:lstStyle/>
        <a:p>
          <a:endParaRPr lang="en-US"/>
        </a:p>
      </dgm:t>
    </dgm:pt>
    <dgm:pt modelId="{90F4B6D1-BC34-4387-9786-78F53A1849FC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نگهداری بیشتر اطلاعات تصویر</a:t>
          </a:r>
          <a:endParaRPr lang="en-US" dirty="0"/>
        </a:p>
      </dgm:t>
    </dgm:pt>
    <dgm:pt modelId="{BB562B0A-77BC-4E56-970A-12A1A5AACCCD}" type="parTrans" cxnId="{7DC1363F-9D4F-418D-9A3E-D3DF6F6165C3}">
      <dgm:prSet/>
      <dgm:spPr/>
      <dgm:t>
        <a:bodyPr/>
        <a:lstStyle/>
        <a:p>
          <a:endParaRPr lang="en-US"/>
        </a:p>
      </dgm:t>
    </dgm:pt>
    <dgm:pt modelId="{9270F58E-425E-47C8-A490-2E36C216674D}" type="sibTrans" cxnId="{7DC1363F-9D4F-418D-9A3E-D3DF6F6165C3}">
      <dgm:prSet/>
      <dgm:spPr/>
      <dgm:t>
        <a:bodyPr/>
        <a:lstStyle/>
        <a:p>
          <a:endParaRPr lang="en-US"/>
        </a:p>
      </dgm:t>
    </dgm:pt>
    <dgm:pt modelId="{B6AD2D8D-B412-4ECF-B7D2-D53C1143DD69}" type="pres">
      <dgm:prSet presAssocID="{BFEB062B-6404-436F-AD58-1BFE9927A8D6}" presName="Name0" presStyleCnt="0">
        <dgm:presLayoutVars>
          <dgm:dir/>
          <dgm:resizeHandles val="exact"/>
        </dgm:presLayoutVars>
      </dgm:prSet>
      <dgm:spPr/>
    </dgm:pt>
    <dgm:pt modelId="{268F2A6A-6E9F-4D2B-9EAF-73DB287B9152}" type="pres">
      <dgm:prSet presAssocID="{EA2BA559-6A0E-449B-8AD4-256DB66E11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49FAED-A702-4210-AAF1-8DBABDBB7DA5}" type="pres">
      <dgm:prSet presAssocID="{ABB3FA03-AF85-46AC-9AD3-018C0F37D42C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D5FACD4-6BA2-4B5F-9235-D9FAE0478D4B}" type="pres">
      <dgm:prSet presAssocID="{ABB3FA03-AF85-46AC-9AD3-018C0F37D42C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659B406A-3073-4A40-ACEA-00769A7D997D}" type="pres">
      <dgm:prSet presAssocID="{ACFE388C-CCD9-43E7-8F26-8BB80F1791E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FDDE1E-B151-40B2-A8E6-07E34CD4351D}" type="pres">
      <dgm:prSet presAssocID="{98150C68-F1E1-4062-BC93-C4F5B533E3F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EA129C4-B23E-47F1-912D-0B71FC7F4C42}" type="pres">
      <dgm:prSet presAssocID="{98150C68-F1E1-4062-BC93-C4F5B533E3F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46B4C456-4036-4850-906D-5DB50BA20B38}" type="pres">
      <dgm:prSet presAssocID="{90F4B6D1-BC34-4387-9786-78F53A1849F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20E375-F48B-4276-B8D7-DD69FD353283}" type="presOf" srcId="{EA2BA559-6A0E-449B-8AD4-256DB66E11B2}" destId="{268F2A6A-6E9F-4D2B-9EAF-73DB287B9152}" srcOrd="0" destOrd="0" presId="urn:microsoft.com/office/officeart/2005/8/layout/process1"/>
    <dgm:cxn modelId="{5FD0418B-CEEA-4D1B-BB54-5A2B1FCE5720}" type="presOf" srcId="{98150C68-F1E1-4062-BC93-C4F5B533E3F5}" destId="{3EFDDE1E-B151-40B2-A8E6-07E34CD4351D}" srcOrd="0" destOrd="0" presId="urn:microsoft.com/office/officeart/2005/8/layout/process1"/>
    <dgm:cxn modelId="{74E780D5-7FDA-406D-8DC9-351F8B6F314A}" type="presOf" srcId="{90F4B6D1-BC34-4387-9786-78F53A1849FC}" destId="{46B4C456-4036-4850-906D-5DB50BA20B38}" srcOrd="0" destOrd="0" presId="urn:microsoft.com/office/officeart/2005/8/layout/process1"/>
    <dgm:cxn modelId="{7DC1363F-9D4F-418D-9A3E-D3DF6F6165C3}" srcId="{BFEB062B-6404-436F-AD58-1BFE9927A8D6}" destId="{90F4B6D1-BC34-4387-9786-78F53A1849FC}" srcOrd="2" destOrd="0" parTransId="{BB562B0A-77BC-4E56-970A-12A1A5AACCCD}" sibTransId="{9270F58E-425E-47C8-A490-2E36C216674D}"/>
    <dgm:cxn modelId="{95E2A871-93DC-408E-93DF-CB8955FA05BC}" type="presOf" srcId="{ACFE388C-CCD9-43E7-8F26-8BB80F1791EF}" destId="{659B406A-3073-4A40-ACEA-00769A7D997D}" srcOrd="0" destOrd="0" presId="urn:microsoft.com/office/officeart/2005/8/layout/process1"/>
    <dgm:cxn modelId="{18587975-CE56-4945-823D-150B2E77692C}" type="presOf" srcId="{BFEB062B-6404-436F-AD58-1BFE9927A8D6}" destId="{B6AD2D8D-B412-4ECF-B7D2-D53C1143DD69}" srcOrd="0" destOrd="0" presId="urn:microsoft.com/office/officeart/2005/8/layout/process1"/>
    <dgm:cxn modelId="{C6E420B1-D262-4944-9651-63A90EA8332E}" srcId="{BFEB062B-6404-436F-AD58-1BFE9927A8D6}" destId="{EA2BA559-6A0E-449B-8AD4-256DB66E11B2}" srcOrd="0" destOrd="0" parTransId="{C4D8D134-40EA-49DE-B558-2561BB7A28B4}" sibTransId="{ABB3FA03-AF85-46AC-9AD3-018C0F37D42C}"/>
    <dgm:cxn modelId="{9FD075C9-5564-4130-82CD-0C43EB2115BC}" type="presOf" srcId="{ABB3FA03-AF85-46AC-9AD3-018C0F37D42C}" destId="{E149FAED-A702-4210-AAF1-8DBABDBB7DA5}" srcOrd="0" destOrd="0" presId="urn:microsoft.com/office/officeart/2005/8/layout/process1"/>
    <dgm:cxn modelId="{9851B5D5-A11B-41BE-B8F7-F56EE36235CA}" type="presOf" srcId="{ABB3FA03-AF85-46AC-9AD3-018C0F37D42C}" destId="{4D5FACD4-6BA2-4B5F-9235-D9FAE0478D4B}" srcOrd="1" destOrd="0" presId="urn:microsoft.com/office/officeart/2005/8/layout/process1"/>
    <dgm:cxn modelId="{DD82D9C6-3722-45BD-B0C0-B2BB0C40B741}" srcId="{BFEB062B-6404-436F-AD58-1BFE9927A8D6}" destId="{ACFE388C-CCD9-43E7-8F26-8BB80F1791EF}" srcOrd="1" destOrd="0" parTransId="{E4AC73A5-BACF-49CA-8527-161B6E4C800D}" sibTransId="{98150C68-F1E1-4062-BC93-C4F5B533E3F5}"/>
    <dgm:cxn modelId="{5AE08E7B-179D-42F8-8C68-B36B88226659}" type="presOf" srcId="{98150C68-F1E1-4062-BC93-C4F5B533E3F5}" destId="{6EA129C4-B23E-47F1-912D-0B71FC7F4C42}" srcOrd="1" destOrd="0" presId="urn:microsoft.com/office/officeart/2005/8/layout/process1"/>
    <dgm:cxn modelId="{C2D4F4ED-0EDE-4D5F-B4A4-4D918C19C9B6}" type="presParOf" srcId="{B6AD2D8D-B412-4ECF-B7D2-D53C1143DD69}" destId="{268F2A6A-6E9F-4D2B-9EAF-73DB287B9152}" srcOrd="0" destOrd="0" presId="urn:microsoft.com/office/officeart/2005/8/layout/process1"/>
    <dgm:cxn modelId="{AB466048-8E3F-4413-93F9-C7299B977379}" type="presParOf" srcId="{B6AD2D8D-B412-4ECF-B7D2-D53C1143DD69}" destId="{E149FAED-A702-4210-AAF1-8DBABDBB7DA5}" srcOrd="1" destOrd="0" presId="urn:microsoft.com/office/officeart/2005/8/layout/process1"/>
    <dgm:cxn modelId="{E0CB9C38-744E-4432-BB12-D393B38C5D36}" type="presParOf" srcId="{E149FAED-A702-4210-AAF1-8DBABDBB7DA5}" destId="{4D5FACD4-6BA2-4B5F-9235-D9FAE0478D4B}" srcOrd="0" destOrd="0" presId="urn:microsoft.com/office/officeart/2005/8/layout/process1"/>
    <dgm:cxn modelId="{5CDC7DBD-2BA3-4EEC-8539-53695135234D}" type="presParOf" srcId="{B6AD2D8D-B412-4ECF-B7D2-D53C1143DD69}" destId="{659B406A-3073-4A40-ACEA-00769A7D997D}" srcOrd="2" destOrd="0" presId="urn:microsoft.com/office/officeart/2005/8/layout/process1"/>
    <dgm:cxn modelId="{6ECFCE61-0919-4A61-A84E-39E01CEE9870}" type="presParOf" srcId="{B6AD2D8D-B412-4ECF-B7D2-D53C1143DD69}" destId="{3EFDDE1E-B151-40B2-A8E6-07E34CD4351D}" srcOrd="3" destOrd="0" presId="urn:microsoft.com/office/officeart/2005/8/layout/process1"/>
    <dgm:cxn modelId="{85AEF7B8-FA9C-4B69-B7A9-52F05699A942}" type="presParOf" srcId="{3EFDDE1E-B151-40B2-A8E6-07E34CD4351D}" destId="{6EA129C4-B23E-47F1-912D-0B71FC7F4C42}" srcOrd="0" destOrd="0" presId="urn:microsoft.com/office/officeart/2005/8/layout/process1"/>
    <dgm:cxn modelId="{F92955CF-FB86-4DE8-B2DF-623FD30374CF}" type="presParOf" srcId="{B6AD2D8D-B412-4ECF-B7D2-D53C1143DD69}" destId="{46B4C456-4036-4850-906D-5DB50BA20B3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EB062B-6404-436F-AD58-1BFE9927A8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A2BA559-6A0E-449B-8AD4-256DB66E11B2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تصویر با کنتراست پایین</a:t>
          </a:r>
          <a:endParaRPr lang="en-US" dirty="0"/>
        </a:p>
      </dgm:t>
    </dgm:pt>
    <dgm:pt modelId="{C4D8D134-40EA-49DE-B558-2561BB7A28B4}" type="parTrans" cxnId="{C6E420B1-D262-4944-9651-63A90EA8332E}">
      <dgm:prSet/>
      <dgm:spPr/>
      <dgm:t>
        <a:bodyPr/>
        <a:lstStyle/>
        <a:p>
          <a:endParaRPr lang="en-US"/>
        </a:p>
      </dgm:t>
    </dgm:pt>
    <dgm:pt modelId="{ABB3FA03-AF85-46AC-9AD3-018C0F37D42C}" type="sibTrans" cxnId="{C6E420B1-D262-4944-9651-63A90EA8332E}">
      <dgm:prSet/>
      <dgm:spPr/>
      <dgm:t>
        <a:bodyPr/>
        <a:lstStyle/>
        <a:p>
          <a:endParaRPr lang="en-US"/>
        </a:p>
      </dgm:t>
    </dgm:pt>
    <dgm:pt modelId="{ACFE388C-CCD9-43E7-8F26-8BB80F1791EF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اصلاح هیستوگرام </a:t>
          </a:r>
          <a:endParaRPr lang="en-US" dirty="0"/>
        </a:p>
      </dgm:t>
    </dgm:pt>
    <dgm:pt modelId="{E4AC73A5-BACF-49CA-8527-161B6E4C800D}" type="parTrans" cxnId="{DD82D9C6-3722-45BD-B0C0-B2BB0C40B741}">
      <dgm:prSet/>
      <dgm:spPr/>
      <dgm:t>
        <a:bodyPr/>
        <a:lstStyle/>
        <a:p>
          <a:endParaRPr lang="en-US"/>
        </a:p>
      </dgm:t>
    </dgm:pt>
    <dgm:pt modelId="{98150C68-F1E1-4062-BC93-C4F5B533E3F5}" type="sibTrans" cxnId="{DD82D9C6-3722-45BD-B0C0-B2BB0C40B741}">
      <dgm:prSet/>
      <dgm:spPr/>
      <dgm:t>
        <a:bodyPr/>
        <a:lstStyle/>
        <a:p>
          <a:endParaRPr lang="en-US"/>
        </a:p>
      </dgm:t>
    </dgm:pt>
    <dgm:pt modelId="{90F4B6D1-BC34-4387-9786-78F53A1849FC}">
      <dgm:prSet phldrT="[Text]"/>
      <dgm:spPr/>
      <dgm:t>
        <a:bodyPr/>
        <a:lstStyle/>
        <a:p>
          <a:r>
            <a:rPr lang="fa-IR" dirty="0" smtClean="0">
              <a:cs typeface="B Nazanin" panose="00000400000000000000" pitchFamily="2" charset="-78"/>
            </a:rPr>
            <a:t>فیلتر همومورفیک</a:t>
          </a:r>
          <a:endParaRPr lang="en-US" dirty="0"/>
        </a:p>
      </dgm:t>
    </dgm:pt>
    <dgm:pt modelId="{BB562B0A-77BC-4E56-970A-12A1A5AACCCD}" type="parTrans" cxnId="{7DC1363F-9D4F-418D-9A3E-D3DF6F6165C3}">
      <dgm:prSet/>
      <dgm:spPr/>
      <dgm:t>
        <a:bodyPr/>
        <a:lstStyle/>
        <a:p>
          <a:endParaRPr lang="en-US"/>
        </a:p>
      </dgm:t>
    </dgm:pt>
    <dgm:pt modelId="{9270F58E-425E-47C8-A490-2E36C216674D}" type="sibTrans" cxnId="{7DC1363F-9D4F-418D-9A3E-D3DF6F6165C3}">
      <dgm:prSet/>
      <dgm:spPr/>
      <dgm:t>
        <a:bodyPr/>
        <a:lstStyle/>
        <a:p>
          <a:endParaRPr lang="en-US"/>
        </a:p>
      </dgm:t>
    </dgm:pt>
    <dgm:pt modelId="{B6AD2D8D-B412-4ECF-B7D2-D53C1143DD69}" type="pres">
      <dgm:prSet presAssocID="{BFEB062B-6404-436F-AD58-1BFE9927A8D6}" presName="Name0" presStyleCnt="0">
        <dgm:presLayoutVars>
          <dgm:dir/>
          <dgm:resizeHandles val="exact"/>
        </dgm:presLayoutVars>
      </dgm:prSet>
      <dgm:spPr/>
    </dgm:pt>
    <dgm:pt modelId="{268F2A6A-6E9F-4D2B-9EAF-73DB287B9152}" type="pres">
      <dgm:prSet presAssocID="{EA2BA559-6A0E-449B-8AD4-256DB66E11B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49FAED-A702-4210-AAF1-8DBABDBB7DA5}" type="pres">
      <dgm:prSet presAssocID="{ABB3FA03-AF85-46AC-9AD3-018C0F37D42C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D5FACD4-6BA2-4B5F-9235-D9FAE0478D4B}" type="pres">
      <dgm:prSet presAssocID="{ABB3FA03-AF85-46AC-9AD3-018C0F37D42C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659B406A-3073-4A40-ACEA-00769A7D997D}" type="pres">
      <dgm:prSet presAssocID="{ACFE388C-CCD9-43E7-8F26-8BB80F1791E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FDDE1E-B151-40B2-A8E6-07E34CD4351D}" type="pres">
      <dgm:prSet presAssocID="{98150C68-F1E1-4062-BC93-C4F5B533E3F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EA129C4-B23E-47F1-912D-0B71FC7F4C42}" type="pres">
      <dgm:prSet presAssocID="{98150C68-F1E1-4062-BC93-C4F5B533E3F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46B4C456-4036-4850-906D-5DB50BA20B38}" type="pres">
      <dgm:prSet presAssocID="{90F4B6D1-BC34-4387-9786-78F53A1849F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20E375-F48B-4276-B8D7-DD69FD353283}" type="presOf" srcId="{EA2BA559-6A0E-449B-8AD4-256DB66E11B2}" destId="{268F2A6A-6E9F-4D2B-9EAF-73DB287B9152}" srcOrd="0" destOrd="0" presId="urn:microsoft.com/office/officeart/2005/8/layout/process1"/>
    <dgm:cxn modelId="{5FD0418B-CEEA-4D1B-BB54-5A2B1FCE5720}" type="presOf" srcId="{98150C68-F1E1-4062-BC93-C4F5B533E3F5}" destId="{3EFDDE1E-B151-40B2-A8E6-07E34CD4351D}" srcOrd="0" destOrd="0" presId="urn:microsoft.com/office/officeart/2005/8/layout/process1"/>
    <dgm:cxn modelId="{74E780D5-7FDA-406D-8DC9-351F8B6F314A}" type="presOf" srcId="{90F4B6D1-BC34-4387-9786-78F53A1849FC}" destId="{46B4C456-4036-4850-906D-5DB50BA20B38}" srcOrd="0" destOrd="0" presId="urn:microsoft.com/office/officeart/2005/8/layout/process1"/>
    <dgm:cxn modelId="{7DC1363F-9D4F-418D-9A3E-D3DF6F6165C3}" srcId="{BFEB062B-6404-436F-AD58-1BFE9927A8D6}" destId="{90F4B6D1-BC34-4387-9786-78F53A1849FC}" srcOrd="2" destOrd="0" parTransId="{BB562B0A-77BC-4E56-970A-12A1A5AACCCD}" sibTransId="{9270F58E-425E-47C8-A490-2E36C216674D}"/>
    <dgm:cxn modelId="{95E2A871-93DC-408E-93DF-CB8955FA05BC}" type="presOf" srcId="{ACFE388C-CCD9-43E7-8F26-8BB80F1791EF}" destId="{659B406A-3073-4A40-ACEA-00769A7D997D}" srcOrd="0" destOrd="0" presId="urn:microsoft.com/office/officeart/2005/8/layout/process1"/>
    <dgm:cxn modelId="{18587975-CE56-4945-823D-150B2E77692C}" type="presOf" srcId="{BFEB062B-6404-436F-AD58-1BFE9927A8D6}" destId="{B6AD2D8D-B412-4ECF-B7D2-D53C1143DD69}" srcOrd="0" destOrd="0" presId="urn:microsoft.com/office/officeart/2005/8/layout/process1"/>
    <dgm:cxn modelId="{C6E420B1-D262-4944-9651-63A90EA8332E}" srcId="{BFEB062B-6404-436F-AD58-1BFE9927A8D6}" destId="{EA2BA559-6A0E-449B-8AD4-256DB66E11B2}" srcOrd="0" destOrd="0" parTransId="{C4D8D134-40EA-49DE-B558-2561BB7A28B4}" sibTransId="{ABB3FA03-AF85-46AC-9AD3-018C0F37D42C}"/>
    <dgm:cxn modelId="{9FD075C9-5564-4130-82CD-0C43EB2115BC}" type="presOf" srcId="{ABB3FA03-AF85-46AC-9AD3-018C0F37D42C}" destId="{E149FAED-A702-4210-AAF1-8DBABDBB7DA5}" srcOrd="0" destOrd="0" presId="urn:microsoft.com/office/officeart/2005/8/layout/process1"/>
    <dgm:cxn modelId="{9851B5D5-A11B-41BE-B8F7-F56EE36235CA}" type="presOf" srcId="{ABB3FA03-AF85-46AC-9AD3-018C0F37D42C}" destId="{4D5FACD4-6BA2-4B5F-9235-D9FAE0478D4B}" srcOrd="1" destOrd="0" presId="urn:microsoft.com/office/officeart/2005/8/layout/process1"/>
    <dgm:cxn modelId="{DD82D9C6-3722-45BD-B0C0-B2BB0C40B741}" srcId="{BFEB062B-6404-436F-AD58-1BFE9927A8D6}" destId="{ACFE388C-CCD9-43E7-8F26-8BB80F1791EF}" srcOrd="1" destOrd="0" parTransId="{E4AC73A5-BACF-49CA-8527-161B6E4C800D}" sibTransId="{98150C68-F1E1-4062-BC93-C4F5B533E3F5}"/>
    <dgm:cxn modelId="{5AE08E7B-179D-42F8-8C68-B36B88226659}" type="presOf" srcId="{98150C68-F1E1-4062-BC93-C4F5B533E3F5}" destId="{6EA129C4-B23E-47F1-912D-0B71FC7F4C42}" srcOrd="1" destOrd="0" presId="urn:microsoft.com/office/officeart/2005/8/layout/process1"/>
    <dgm:cxn modelId="{C2D4F4ED-0EDE-4D5F-B4A4-4D918C19C9B6}" type="presParOf" srcId="{B6AD2D8D-B412-4ECF-B7D2-D53C1143DD69}" destId="{268F2A6A-6E9F-4D2B-9EAF-73DB287B9152}" srcOrd="0" destOrd="0" presId="urn:microsoft.com/office/officeart/2005/8/layout/process1"/>
    <dgm:cxn modelId="{AB466048-8E3F-4413-93F9-C7299B977379}" type="presParOf" srcId="{B6AD2D8D-B412-4ECF-B7D2-D53C1143DD69}" destId="{E149FAED-A702-4210-AAF1-8DBABDBB7DA5}" srcOrd="1" destOrd="0" presId="urn:microsoft.com/office/officeart/2005/8/layout/process1"/>
    <dgm:cxn modelId="{E0CB9C38-744E-4432-BB12-D393B38C5D36}" type="presParOf" srcId="{E149FAED-A702-4210-AAF1-8DBABDBB7DA5}" destId="{4D5FACD4-6BA2-4B5F-9235-D9FAE0478D4B}" srcOrd="0" destOrd="0" presId="urn:microsoft.com/office/officeart/2005/8/layout/process1"/>
    <dgm:cxn modelId="{5CDC7DBD-2BA3-4EEC-8539-53695135234D}" type="presParOf" srcId="{B6AD2D8D-B412-4ECF-B7D2-D53C1143DD69}" destId="{659B406A-3073-4A40-ACEA-00769A7D997D}" srcOrd="2" destOrd="0" presId="urn:microsoft.com/office/officeart/2005/8/layout/process1"/>
    <dgm:cxn modelId="{6ECFCE61-0919-4A61-A84E-39E01CEE9870}" type="presParOf" srcId="{B6AD2D8D-B412-4ECF-B7D2-D53C1143DD69}" destId="{3EFDDE1E-B151-40B2-A8E6-07E34CD4351D}" srcOrd="3" destOrd="0" presId="urn:microsoft.com/office/officeart/2005/8/layout/process1"/>
    <dgm:cxn modelId="{85AEF7B8-FA9C-4B69-B7A9-52F05699A942}" type="presParOf" srcId="{3EFDDE1E-B151-40B2-A8E6-07E34CD4351D}" destId="{6EA129C4-B23E-47F1-912D-0B71FC7F4C42}" srcOrd="0" destOrd="0" presId="urn:microsoft.com/office/officeart/2005/8/layout/process1"/>
    <dgm:cxn modelId="{F92955CF-FB86-4DE8-B2DF-623FD30374CF}" type="presParOf" srcId="{B6AD2D8D-B412-4ECF-B7D2-D53C1143DD69}" destId="{46B4C456-4036-4850-906D-5DB50BA20B3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F2A6A-6E9F-4D2B-9EAF-73DB287B9152}">
      <dsp:nvSpPr>
        <dsp:cNvPr id="0" name=""/>
        <dsp:cNvSpPr/>
      </dsp:nvSpPr>
      <dsp:spPr>
        <a:xfrm>
          <a:off x="3972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آنتروپی بالاتر</a:t>
          </a:r>
          <a:endParaRPr lang="en-US" sz="1700" kern="1200" dirty="0"/>
        </a:p>
      </dsp:txBody>
      <dsp:txXfrm>
        <a:off x="26793" y="194935"/>
        <a:ext cx="1141674" cy="733534"/>
      </dsp:txXfrm>
    </dsp:sp>
    <dsp:sp modelId="{E149FAED-A702-4210-AAF1-8DBABDBB7DA5}">
      <dsp:nvSpPr>
        <dsp:cNvPr id="0" name=""/>
        <dsp:cNvSpPr/>
      </dsp:nvSpPr>
      <dsp:spPr>
        <a:xfrm>
          <a:off x="1310020" y="414475"/>
          <a:ext cx="251711" cy="29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310020" y="473366"/>
        <a:ext cx="176198" cy="176672"/>
      </dsp:txXfrm>
    </dsp:sp>
    <dsp:sp modelId="{659B406A-3073-4A40-ACEA-00769A7D997D}">
      <dsp:nvSpPr>
        <dsp:cNvPr id="0" name=""/>
        <dsp:cNvSpPr/>
      </dsp:nvSpPr>
      <dsp:spPr>
        <a:xfrm>
          <a:off x="1666216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جزئیات بیشتر </a:t>
          </a:r>
          <a:endParaRPr lang="en-US" sz="1700" kern="1200" dirty="0"/>
        </a:p>
      </dsp:txBody>
      <dsp:txXfrm>
        <a:off x="1689037" y="194935"/>
        <a:ext cx="1141674" cy="733534"/>
      </dsp:txXfrm>
    </dsp:sp>
    <dsp:sp modelId="{3EFDDE1E-B151-40B2-A8E6-07E34CD4351D}">
      <dsp:nvSpPr>
        <dsp:cNvPr id="0" name=""/>
        <dsp:cNvSpPr/>
      </dsp:nvSpPr>
      <dsp:spPr>
        <a:xfrm>
          <a:off x="2972264" y="414475"/>
          <a:ext cx="251711" cy="29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2972264" y="473366"/>
        <a:ext cx="176198" cy="176672"/>
      </dsp:txXfrm>
    </dsp:sp>
    <dsp:sp modelId="{46B4C456-4036-4850-906D-5DB50BA20B38}">
      <dsp:nvSpPr>
        <dsp:cNvPr id="0" name=""/>
        <dsp:cNvSpPr/>
      </dsp:nvSpPr>
      <dsp:spPr>
        <a:xfrm>
          <a:off x="3328459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نگهداری بیشتر اطلاعات تصویر</a:t>
          </a:r>
          <a:endParaRPr lang="en-US" sz="1700" kern="1200" dirty="0"/>
        </a:p>
      </dsp:txBody>
      <dsp:txXfrm>
        <a:off x="3351280" y="194935"/>
        <a:ext cx="1141674" cy="7335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F2A6A-6E9F-4D2B-9EAF-73DB287B9152}">
      <dsp:nvSpPr>
        <dsp:cNvPr id="0" name=""/>
        <dsp:cNvSpPr/>
      </dsp:nvSpPr>
      <dsp:spPr>
        <a:xfrm>
          <a:off x="3972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تصویر با کنتراست پایین</a:t>
          </a:r>
          <a:endParaRPr lang="en-US" sz="1700" kern="1200" dirty="0"/>
        </a:p>
      </dsp:txBody>
      <dsp:txXfrm>
        <a:off x="26793" y="194935"/>
        <a:ext cx="1141674" cy="733534"/>
      </dsp:txXfrm>
    </dsp:sp>
    <dsp:sp modelId="{E149FAED-A702-4210-AAF1-8DBABDBB7DA5}">
      <dsp:nvSpPr>
        <dsp:cNvPr id="0" name=""/>
        <dsp:cNvSpPr/>
      </dsp:nvSpPr>
      <dsp:spPr>
        <a:xfrm>
          <a:off x="1310020" y="414475"/>
          <a:ext cx="251711" cy="29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310020" y="473366"/>
        <a:ext cx="176198" cy="176672"/>
      </dsp:txXfrm>
    </dsp:sp>
    <dsp:sp modelId="{659B406A-3073-4A40-ACEA-00769A7D997D}">
      <dsp:nvSpPr>
        <dsp:cNvPr id="0" name=""/>
        <dsp:cNvSpPr/>
      </dsp:nvSpPr>
      <dsp:spPr>
        <a:xfrm>
          <a:off x="1666216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اصلاح هیستوگرام </a:t>
          </a:r>
          <a:endParaRPr lang="en-US" sz="1700" kern="1200" dirty="0"/>
        </a:p>
      </dsp:txBody>
      <dsp:txXfrm>
        <a:off x="1689037" y="194935"/>
        <a:ext cx="1141674" cy="733534"/>
      </dsp:txXfrm>
    </dsp:sp>
    <dsp:sp modelId="{3EFDDE1E-B151-40B2-A8E6-07E34CD4351D}">
      <dsp:nvSpPr>
        <dsp:cNvPr id="0" name=""/>
        <dsp:cNvSpPr/>
      </dsp:nvSpPr>
      <dsp:spPr>
        <a:xfrm>
          <a:off x="2972264" y="414475"/>
          <a:ext cx="251711" cy="29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2972264" y="473366"/>
        <a:ext cx="176198" cy="176672"/>
      </dsp:txXfrm>
    </dsp:sp>
    <dsp:sp modelId="{46B4C456-4036-4850-906D-5DB50BA20B38}">
      <dsp:nvSpPr>
        <dsp:cNvPr id="0" name=""/>
        <dsp:cNvSpPr/>
      </dsp:nvSpPr>
      <dsp:spPr>
        <a:xfrm>
          <a:off x="3328459" y="172114"/>
          <a:ext cx="1187316" cy="779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700" kern="1200" dirty="0" smtClean="0">
              <a:cs typeface="B Nazanin" panose="00000400000000000000" pitchFamily="2" charset="-78"/>
            </a:rPr>
            <a:t>فیلتر همومورفیک</a:t>
          </a:r>
          <a:endParaRPr lang="en-US" sz="1700" kern="1200" dirty="0"/>
        </a:p>
      </dsp:txBody>
      <dsp:txXfrm>
        <a:off x="3351280" y="194935"/>
        <a:ext cx="1141674" cy="733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134766F9-9A0C-43CF-8EC9-80624AFA0F9E}" type="datetimeFigureOut">
              <a:rPr lang="fa-IR" smtClean="0"/>
              <a:t>18/05/1441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14D610C-1FA7-46F4-A286-BEBCA7F35642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841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1BC2-B827-42AD-A5E2-BB139533D87C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C408-93F8-416D-BE52-AB747B72E460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8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A1FD-2D25-427D-8B4D-413B7724FB32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7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8AB-FD49-4B26-A10F-6D5A6C7F4B63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5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CE789-C2A2-4D7C-9B97-3860D67F57D5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4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3F5-D505-4D47-A288-0A502124CD61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37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EFAF4-A50D-4AC5-9BCE-DBD799DDF2EE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19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F1F-9055-4328-A916-182F659660B4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35EF-D1CA-4331-AD37-D097D12A68FF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33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EF7A-FDD6-4EBC-839E-E81EBFCD425D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6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5179-E0DD-46EC-B1B3-00765603A3A1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7914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A73C-2796-4DF8-83EF-F8D9FB46DBEB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690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A784-EA71-4619-A5CB-5C4C834BE7E5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2267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A3C2-1D74-4931-B183-9975BE4C69A9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65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ACA2-4C89-4A19-8DC7-E74364E4A99D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71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7F7B-060D-48D6-BD4D-55BF2A1A3A71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9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F4066-358D-4C53-8DD4-4A5A4D05554B}" type="datetime1">
              <a:rPr lang="en-US" smtClean="0"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1. Adaptive Histogram Equalization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</p:sldLayoutIdLst>
  <p:hf sldNum="0" hdr="0" dt="0"/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8869" y="306251"/>
            <a:ext cx="7994468" cy="2577738"/>
          </a:xfrm>
        </p:spPr>
        <p:txBody>
          <a:bodyPr>
            <a:normAutofit/>
          </a:bodyPr>
          <a:lstStyle/>
          <a:p>
            <a:pPr algn="ctr"/>
            <a:r>
              <a:rPr lang="fa-IR" sz="3200" b="1" dirty="0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rPr>
              <a:t>به نام خدا</a:t>
            </a:r>
            <a:r>
              <a:rPr lang="fa-IR" sz="3200" b="1" dirty="0">
                <a:cs typeface="B Nazanin" panose="00000400000000000000" pitchFamily="2" charset="-78"/>
              </a:rPr>
              <a:t/>
            </a:r>
            <a:br>
              <a:rPr lang="fa-IR" sz="3200" b="1" dirty="0">
                <a:cs typeface="B Nazanin" panose="00000400000000000000" pitchFamily="2" charset="-78"/>
              </a:rPr>
            </a:br>
            <a:r>
              <a:rPr lang="fa-IR" sz="4000" b="1" dirty="0">
                <a:cs typeface="B Nazanin" panose="00000400000000000000" pitchFamily="2" charset="-78"/>
              </a:rPr>
              <a:t/>
            </a:r>
            <a:br>
              <a:rPr lang="fa-IR" sz="4000" b="1" dirty="0">
                <a:cs typeface="B Nazanin" panose="00000400000000000000" pitchFamily="2" charset="-78"/>
              </a:rPr>
            </a:b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هیستوگرام اصلاح شده بر اساس بهبود کانتراست با </a:t>
            </a:r>
            <a:b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</a:b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به کارگیری </a:t>
            </a:r>
            <a:r>
              <a:rPr lang="fa-I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فیلترینگ همریخت 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برای تصاویر پزشکی</a:t>
            </a:r>
            <a:endParaRPr lang="fa-IR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5" y="4014651"/>
            <a:ext cx="7773986" cy="188901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fa-IR" sz="2800" b="1" dirty="0">
                <a:cs typeface="B Nazanin" panose="00000400000000000000" pitchFamily="2" charset="-78"/>
              </a:rPr>
              <a:t>استاد : دکتر احمدی فرد</a:t>
            </a:r>
          </a:p>
          <a:p>
            <a:pPr algn="r"/>
            <a:r>
              <a:rPr lang="fa-IR" sz="2800" b="1" dirty="0">
                <a:cs typeface="B Nazanin" panose="00000400000000000000" pitchFamily="2" charset="-78"/>
              </a:rPr>
              <a:t>امیر اقتدائی</a:t>
            </a:r>
          </a:p>
          <a:p>
            <a:pPr algn="r"/>
            <a:r>
              <a:rPr lang="fa-IR" sz="2800" b="1" dirty="0">
                <a:cs typeface="B Nazanin" panose="00000400000000000000" pitchFamily="2" charset="-78"/>
              </a:rPr>
              <a:t>مقطع ارشد - دانشگاه صنعتی شاهرود</a:t>
            </a:r>
          </a:p>
          <a:p>
            <a:pPr algn="r"/>
            <a:r>
              <a:rPr lang="fa-IR" sz="2600" dirty="0" smtClean="0"/>
              <a:t> </a:t>
            </a:r>
            <a:r>
              <a:rPr lang="fa-IR" sz="2600" b="1" dirty="0" smtClean="0">
                <a:cs typeface="B Nazanin" panose="00000400000000000000" pitchFamily="2" charset="-78"/>
              </a:rPr>
              <a:t>سه شنبه 1398/10/24</a:t>
            </a:r>
            <a:endParaRPr lang="fa-IR" sz="2600" b="1" dirty="0">
              <a:cs typeface="B Nazanin" panose="00000400000000000000" pitchFamily="2" charset="-78"/>
            </a:endParaRPr>
          </a:p>
          <a:p>
            <a:pPr algn="r"/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36" y="306251"/>
            <a:ext cx="1036978" cy="15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0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909" y="748231"/>
            <a:ext cx="1210491" cy="523220"/>
          </a:xfrm>
        </p:spPr>
        <p:txBody>
          <a:bodyPr>
            <a:normAutofit fontScale="90000"/>
          </a:bodyPr>
          <a:lstStyle/>
          <a:p>
            <a:pPr algn="r"/>
            <a:r>
              <a:rPr lang="fa-IR" sz="3200" b="1" dirty="0" smtClean="0">
                <a:cs typeface="B Nazanin" panose="00000400000000000000" pitchFamily="2" charset="-78"/>
              </a:rPr>
              <a:t>هدف</a:t>
            </a:r>
            <a:endParaRPr lang="fa-IR" sz="3200" b="1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463" y="1271451"/>
            <a:ext cx="8734699" cy="5050971"/>
          </a:xfrm>
        </p:spPr>
        <p:txBody>
          <a:bodyPr>
            <a:normAutofit/>
          </a:bodyPr>
          <a:lstStyle/>
          <a:p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در پردازش تصاویر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پزشکی,کانتراست پایین تصویر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یک موضوع چالش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برانگیز می باشد</a:t>
            </a:r>
          </a:p>
          <a:p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"برابری هیستوگرام"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یکی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از کاراترین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تکنیک ها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به منظور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افزایش کانتراست تصاویر است</a:t>
            </a:r>
          </a:p>
          <a:p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در برابری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هیستوگرام , ما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هیچ مکانیسمی جهت کنترل سطح بهبود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نداریم            </a:t>
            </a:r>
          </a:p>
          <a:p>
            <a:pPr marL="0" indent="0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endParaRPr lang="fa-IR" sz="2000" dirty="0" smtClean="0">
              <a:cs typeface="B Nazanin" panose="00000400000000000000" pitchFamily="2" charset="-78"/>
            </a:endParaRPr>
          </a:p>
          <a:p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هیستوگرام اصلاح شده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بر اساس بهبود کانتراست با به کارگیری فیلترینگ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همریخت(</a:t>
            </a:r>
            <a:r>
              <a:rPr lang="en-GB" sz="2200" dirty="0" smtClean="0">
                <a:solidFill>
                  <a:schemeClr val="tx1"/>
                </a:solidFill>
                <a:latin typeface="Sylfaen" panose="010A0502050306030303" pitchFamily="18" charset="0"/>
              </a:rPr>
              <a:t>MH-FIL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M</a:t>
            </a:r>
            <a:r>
              <a:rPr lang="en-US" sz="1600" dirty="0">
                <a:solidFill>
                  <a:schemeClr val="tx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odified Histogram Based </a:t>
            </a:r>
            <a:r>
              <a:rPr lang="en-US" sz="1600" dirty="0" smtClean="0">
                <a:solidFill>
                  <a:schemeClr val="tx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Contrast Enhancement using </a:t>
            </a:r>
            <a:r>
              <a:rPr lang="en-US" sz="1600" dirty="0" smtClean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H</a:t>
            </a:r>
            <a:r>
              <a:rPr lang="en-US" sz="1600" dirty="0" smtClean="0">
                <a:solidFill>
                  <a:schemeClr val="tx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omomorphic </a:t>
            </a:r>
            <a:r>
              <a:rPr lang="en-US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Fil</a:t>
            </a:r>
            <a:r>
              <a:rPr lang="en-US" sz="1600" dirty="0">
                <a:solidFill>
                  <a:schemeClr val="tx1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tering</a:t>
            </a:r>
            <a:endParaRPr lang="fa-IR" sz="1600" dirty="0" smtClean="0">
              <a:solidFill>
                <a:schemeClr val="tx1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B Nazanin" panose="00000400000000000000" pitchFamily="2" charset="-78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مرحله اول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: بهبود کانتراست کلی تصویر با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به کارگیری هیستوگرام اصلاح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شده ی</a:t>
            </a:r>
          </a:p>
          <a:p>
            <a:pPr marL="457200" lvl="1" indent="0">
              <a:buNone/>
            </a:pP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   منتج از برابری هیستوگرام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 مرحله دوم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: اعمال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فیلترینگ همریخت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و سپس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نرمالسازی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آن</a:t>
            </a:r>
            <a:endParaRPr lang="fa-IR" sz="22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 smtClean="0">
              <a:cs typeface="B Nazanin" panose="00000400000000000000" pitchFamily="2" charset="-78"/>
            </a:endParaRPr>
          </a:p>
          <a:p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1/12</a:t>
            </a:r>
            <a:endParaRPr lang="fa-IR" sz="16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81520" y="2791488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b="1" dirty="0" smtClean="0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rPr>
              <a:t>راه حل</a:t>
            </a:r>
            <a:endParaRPr lang="fa-IR" sz="3200" b="1" dirty="0">
              <a:solidFill>
                <a:schemeClr val="bg2">
                  <a:lumMod val="50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210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17074" y="624110"/>
            <a:ext cx="5817326" cy="647341"/>
          </a:xfrm>
        </p:spPr>
        <p:txBody>
          <a:bodyPr>
            <a:normAutofit/>
          </a:bodyPr>
          <a:lstStyle/>
          <a:p>
            <a:pPr algn="r"/>
            <a:r>
              <a:rPr lang="fa-IR" sz="3200" b="1" dirty="0" smtClean="0">
                <a:cs typeface="B Nazanin" panose="00000400000000000000" pitchFamily="2" charset="-78"/>
              </a:rPr>
              <a:t>راه حل های ارائه شده پیشین</a:t>
            </a:r>
            <a:endParaRPr lang="fa-IR" sz="3200" b="1" dirty="0">
              <a:cs typeface="B Nazanin" panose="00000400000000000000" pitchFamily="2" charset="-78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1280158" y="1407880"/>
            <a:ext cx="7379865" cy="4426863"/>
          </a:xfrm>
        </p:spPr>
        <p:txBody>
          <a:bodyPr/>
          <a:lstStyle/>
          <a:p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برابری </a:t>
            </a:r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هیستوگرام  </a:t>
            </a:r>
            <a:r>
              <a:rPr lang="fa-IR" sz="2200" dirty="0" smtClean="0">
                <a:solidFill>
                  <a:srgbClr val="FF0000"/>
                </a:solidFill>
                <a:cs typeface="B Nazanin" panose="00000400000000000000" pitchFamily="2" charset="-78"/>
              </a:rPr>
              <a:t>←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عدم کارایی در تصاویر با مناطق تیره تر یا روشن تر</a:t>
            </a:r>
          </a:p>
          <a:p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برابری هیستوگرام تطبیقی</a:t>
            </a:r>
            <a:r>
              <a:rPr lang="fa-IR" sz="2200" b="1" baseline="2000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 (Body)"/>
                <a:cs typeface="B Nazanin" panose="00000400000000000000" pitchFamily="2" charset="-78"/>
              </a:rPr>
              <a:t>1</a:t>
            </a:r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solidFill>
                  <a:srgbClr val="FF0000"/>
                </a:solidFill>
                <a:cs typeface="B Nazanin" panose="00000400000000000000" pitchFamily="2" charset="-78"/>
              </a:rPr>
              <a:t>←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افزایش نویز و اثر بلوکی</a:t>
            </a:r>
            <a:endParaRPr lang="fa-IR" sz="2200" baseline="20000" dirty="0" smtClean="0">
              <a:solidFill>
                <a:schemeClr val="tx1"/>
              </a:solidFill>
              <a:latin typeface="Century Gothic (Body)"/>
              <a:cs typeface="B Nazanin" panose="00000400000000000000" pitchFamily="2" charset="-78"/>
            </a:endParaRPr>
          </a:p>
          <a:p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کانتراست </a:t>
            </a:r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محدود </a:t>
            </a:r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شده ی </a:t>
            </a:r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برابری هیستوگرام </a:t>
            </a:r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تطبیقی</a:t>
            </a:r>
            <a:r>
              <a:rPr lang="fa-IR" sz="2200" b="1" baseline="2000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2</a:t>
            </a:r>
          </a:p>
          <a:p>
            <a:r>
              <a:rPr lang="fa-IR" sz="2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ماسک گذاری </a:t>
            </a:r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غیر تیز </a:t>
            </a:r>
            <a:r>
              <a:rPr lang="fa-IR" sz="2200" b="1" baseline="2000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3</a:t>
            </a:r>
            <a:r>
              <a:rPr lang="fa-IR" sz="2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solidFill>
                  <a:srgbClr val="FF0000"/>
                </a:solidFill>
                <a:cs typeface="B Nazanin" panose="00000400000000000000" pitchFamily="2" charset="-78"/>
              </a:rPr>
              <a:t>←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نویز و عدم تشخیص لبه های با کنتراست کم</a:t>
            </a:r>
          </a:p>
          <a:p>
            <a:endParaRPr lang="fa-IR" sz="2200" baseline="200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endParaRPr lang="fa-IR" sz="2200" baseline="20000" dirty="0" smtClean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endParaRPr lang="fa-IR" sz="2200" baseline="200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endParaRPr lang="fa-IR" sz="2200" baseline="20000" dirty="0" smtClean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مشکل مشترک این متد ها   </a:t>
            </a:r>
            <a:r>
              <a:rPr lang="fa-IR" sz="20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⇐   قادر به حفظ درخشندگی و وضوح تصویر نیستند</a:t>
            </a:r>
            <a:endParaRPr lang="fa-IR" sz="2000" b="1" dirty="0">
              <a:cs typeface="B Nazanin" panose="00000400000000000000" pitchFamily="2" charset="-7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149530" y="5834744"/>
            <a:ext cx="6165670" cy="814236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lang="en-US" sz="1200" dirty="0" smtClean="0">
                <a:solidFill>
                  <a:schemeClr val="tx1"/>
                </a:solidFill>
                <a:latin typeface="Sylfaen" panose="010A0502050306030303" pitchFamily="18" charset="0"/>
              </a:rPr>
              <a:t>Adaptive Histogram Equalization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Sylfaen" panose="010A0502050306030303" pitchFamily="18" charset="0"/>
              </a:rPr>
              <a:t>Contrast Limited Adaptive Histogram Equalization(CLAHE</a:t>
            </a:r>
            <a:r>
              <a:rPr lang="en-US" sz="1200" dirty="0" smtClean="0">
                <a:solidFill>
                  <a:schemeClr val="tx1"/>
                </a:solidFill>
                <a:latin typeface="Sylfaen" panose="010A0502050306030303" pitchFamily="18" charset="0"/>
              </a:rPr>
              <a:t>)</a:t>
            </a:r>
          </a:p>
          <a:p>
            <a:pPr marL="228600" indent="-228600">
              <a:buAutoNum type="arabicPeriod"/>
            </a:pPr>
            <a:r>
              <a:rPr lang="en-GB" sz="1200" dirty="0" err="1" smtClean="0">
                <a:solidFill>
                  <a:schemeClr val="tx1"/>
                </a:solidFill>
                <a:latin typeface="Sylfaen" panose="010A0502050306030303" pitchFamily="18" charset="0"/>
              </a:rPr>
              <a:t>Unsharp</a:t>
            </a:r>
            <a:r>
              <a:rPr lang="en-GB" sz="1200" dirty="0" smtClean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en-GB" sz="1200" dirty="0">
                <a:solidFill>
                  <a:schemeClr val="tx1"/>
                </a:solidFill>
                <a:latin typeface="Sylfaen" panose="010A0502050306030303" pitchFamily="18" charset="0"/>
              </a:rPr>
              <a:t>Masking (US)</a:t>
            </a:r>
            <a:endParaRPr lang="en-US" sz="12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2/12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116183" y="611861"/>
            <a:ext cx="6418218" cy="523220"/>
          </a:xfrm>
        </p:spPr>
        <p:txBody>
          <a:bodyPr>
            <a:noAutofit/>
          </a:bodyPr>
          <a:lstStyle/>
          <a:p>
            <a:pPr algn="r"/>
            <a:r>
              <a:rPr lang="fa-IR" sz="2800" dirty="0" smtClean="0">
                <a:latin typeface="Sylfaen" panose="010A0502050306030303" pitchFamily="18" charset="0"/>
              </a:rPr>
              <a:t> </a:t>
            </a:r>
            <a:r>
              <a:rPr lang="fa-IR" sz="28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برابری هیستوگرام (</a:t>
            </a:r>
            <a:r>
              <a:rPr lang="en-GB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H</a:t>
            </a:r>
            <a:r>
              <a:rPr lang="en-GB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istogram </a:t>
            </a:r>
            <a:r>
              <a:rPr lang="en-GB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E</a:t>
            </a:r>
            <a:r>
              <a:rPr lang="en-GB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qualization</a:t>
            </a:r>
            <a: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 </a:t>
            </a:r>
            <a:r>
              <a:rPr lang="fa-IR" sz="28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)</a:t>
            </a:r>
            <a:r>
              <a:rPr lang="en-GB" sz="2800" b="1" dirty="0">
                <a:latin typeface="Sylfaen" panose="010A0502050306030303" pitchFamily="18" charset="0"/>
                <a:cs typeface="B Nazanin" panose="00000400000000000000" pitchFamily="2" charset="-78"/>
              </a:rPr>
              <a:t/>
            </a:r>
            <a:br>
              <a:rPr lang="en-GB" sz="2800" b="1" dirty="0">
                <a:latin typeface="Sylfaen" panose="010A0502050306030303" pitchFamily="18" charset="0"/>
                <a:cs typeface="B Nazanin" panose="00000400000000000000" pitchFamily="2" charset="-78"/>
              </a:rPr>
            </a:br>
            <a:endParaRPr lang="fa-IR" sz="2800" b="1" dirty="0">
              <a:latin typeface="Sylfaen" panose="010A0502050306030303" pitchFamily="18" charset="0"/>
              <a:cs typeface="B Nazanin" panose="00000400000000000000" pitchFamily="2" charset="-78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010194" y="1436914"/>
            <a:ext cx="7524207" cy="5225143"/>
          </a:xfrm>
        </p:spPr>
        <p:txBody>
          <a:bodyPr>
            <a:normAutofit lnSpcReduction="10000"/>
          </a:bodyPr>
          <a:lstStyle/>
          <a:p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هیستوگرام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یک توصیف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کلی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از ظاهر و نمای یک تصویر فراهم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میاورد</a:t>
            </a:r>
          </a:p>
          <a:p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برابری هیستوگرام یک تکنیک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پیش پردازش است</a:t>
            </a:r>
          </a:p>
          <a:p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مقادیر شدت روشنایی در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تمام 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حیطه ها گسترش</a:t>
            </a:r>
          </a:p>
          <a:p>
            <a:pPr marL="0" indent="0">
              <a:buNone/>
            </a:pP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میابد</a:t>
            </a:r>
          </a:p>
          <a:p>
            <a:endParaRPr lang="fa-IR" sz="2200" dirty="0">
              <a:cs typeface="B Nazanin" panose="00000400000000000000" pitchFamily="2" charset="-78"/>
            </a:endParaRPr>
          </a:p>
          <a:p>
            <a:endParaRPr lang="fa-IR" sz="2200" dirty="0" smtClean="0">
              <a:cs typeface="B Nazanin" panose="00000400000000000000" pitchFamily="2" charset="-78"/>
            </a:endParaRPr>
          </a:p>
          <a:p>
            <a:endParaRPr lang="fa-IR" sz="2200" dirty="0">
              <a:cs typeface="B Nazanin" panose="00000400000000000000" pitchFamily="2" charset="-78"/>
            </a:endParaRPr>
          </a:p>
          <a:p>
            <a:endParaRPr lang="fa-IR" sz="2200" dirty="0" smtClean="0">
              <a:cs typeface="B Nazanin" panose="00000400000000000000" pitchFamily="2" charset="-78"/>
            </a:endParaRPr>
          </a:p>
          <a:p>
            <a:endParaRPr lang="fa-IR" sz="22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200" dirty="0">
                <a:solidFill>
                  <a:schemeClr val="accent2">
                    <a:lumMod val="75000"/>
                  </a:schemeClr>
                </a:solidFill>
                <a:latin typeface="Sylfaen" panose="010A0502050306030303" pitchFamily="18" charset="0"/>
              </a:rPr>
              <a:t> </a:t>
            </a:r>
            <a:r>
              <a:rPr lang="fa-IR" sz="2200" b="1" dirty="0">
                <a:solidFill>
                  <a:schemeClr val="accent2">
                    <a:lumMod val="75000"/>
                  </a:scheme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برابری هیستوگرام تطبیقی (</a:t>
            </a:r>
            <a:r>
              <a:rPr lang="en-US" sz="2200" b="1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A</a:t>
            </a: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B Nazanin" panose="00000400000000000000" pitchFamily="2" charset="-78"/>
              </a:rPr>
              <a:t>daptive </a:t>
            </a:r>
            <a:r>
              <a:rPr lang="en-GB" sz="2200" b="1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H</a:t>
            </a: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istogram </a:t>
            </a:r>
            <a:r>
              <a:rPr lang="en-GB" sz="2200" b="1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E</a:t>
            </a: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qualization</a:t>
            </a:r>
            <a:r>
              <a:rPr lang="fa-IR" sz="2200" b="1" dirty="0">
                <a:solidFill>
                  <a:schemeClr val="accent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 </a:t>
            </a:r>
            <a:r>
              <a:rPr lang="fa-IR" sz="2200" b="1" dirty="0">
                <a:solidFill>
                  <a:schemeClr val="accent2">
                    <a:lumMod val="75000"/>
                  </a:scheme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)</a:t>
            </a:r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/>
            </a:r>
            <a:b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</a:br>
            <a:endParaRPr lang="fa-IR" sz="2200" dirty="0" smtClean="0">
              <a:solidFill>
                <a:schemeClr val="accent2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برابری هیستوگرام در یک پنجره ( نواحی کوچک )</a:t>
            </a:r>
          </a:p>
          <a:p>
            <a:pPr marL="0" indent="0">
              <a:buNone/>
            </a:pPr>
            <a:endParaRPr lang="fa-IR" sz="22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dirty="0" smtClean="0"/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endParaRPr lang="fa-IR" dirty="0" smtClean="0"/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endParaRPr lang="fa-IR" dirty="0" smtClean="0"/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endParaRPr lang="fa-IR" dirty="0" smtClean="0"/>
          </a:p>
          <a:p>
            <a:pPr marL="0" indent="0">
              <a:buNone/>
            </a:pP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>
              <a:xfrm>
                <a:off x="557349" y="3553097"/>
                <a:ext cx="6657415" cy="1846217"/>
              </a:xfrm>
            </p:spPr>
            <p:txBody>
              <a:bodyPr/>
              <a:lstStyle/>
              <a:p>
                <a:r>
                  <a:rPr lang="en-US" sz="2400" dirty="0" smtClean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P[𝑋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𝑘</a:t>
                </a:r>
                <a:r>
                  <a:rPr lang="en-US" sz="2400" dirty="0" smtClean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]=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,     k=0,1,2</a:t>
                </a:r>
                <a:r>
                  <a:rPr lang="en-US" sz="2400" dirty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,…,</a:t>
                </a:r>
                <a:r>
                  <a:rPr lang="en-US" sz="2400" dirty="0" smtClean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L-1</a:t>
                </a:r>
              </a:p>
              <a:p>
                <a:r>
                  <a:rPr lang="pt-BR" sz="2400" dirty="0" smtClean="0">
                    <a:solidFill>
                      <a:schemeClr val="tx1"/>
                    </a:solidFill>
                    <a:latin typeface="Sylfaen" panose="010A0502050306030303" pitchFamily="18" charset="0"/>
                    <a:cs typeface="Calibri" panose="020F0502020204030204" pitchFamily="34" charset="0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aseline="-25000" dirty="0">
                        <a:solidFill>
                          <a:prstClr val="black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pt-BR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b="0" dirty="0" smtClean="0">
                        <a:solidFill>
                          <a:schemeClr val="tx1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T</m:t>
                    </m:r>
                    <m:r>
                      <m:rPr>
                        <m:nor/>
                      </m:rPr>
                      <a:rPr lang="en-US" sz="2400" b="0" dirty="0" smtClean="0">
                        <a:solidFill>
                          <a:schemeClr val="tx1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0" dirty="0" smtClean="0">
                        <a:solidFill>
                          <a:schemeClr val="tx1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r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prstClr val="black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m:rPr>
                        <m:nor/>
                      </m:rPr>
                      <a:rPr lang="en-US" sz="2400" b="0" dirty="0" smtClean="0">
                        <a:solidFill>
                          <a:schemeClr val="tx1"/>
                        </a:solidFill>
                        <a:latin typeface="Sylfaen" panose="010A0502050306030303" pitchFamily="18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pt-BR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nary>
                      <m:naryPr>
                        <m:chr m:val="∑"/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j</m:t>
                        </m:r>
                        <m:r>
                          <a:rPr lang="pt-BR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prstClr val="black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prstClr val="black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prstClr val="black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Sylfaen" panose="010A0502050306030303" pitchFamily="18" charset="0"/>
                            <a:cs typeface="Calibri" panose="020F0502020204030204" pitchFamily="34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Sylfaen" panose="010A0502050306030303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Footer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11"/>
              </p:nvPr>
            </p:nvSpPr>
            <p:spPr>
              <a:xfrm>
                <a:off x="557349" y="3553097"/>
                <a:ext cx="6657415" cy="1846217"/>
              </a:xfrm>
              <a:blipFill>
                <a:blip r:embed="rId2"/>
                <a:stretch>
                  <a:fillRect l="-1372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6000"/>
                    </a14:imgEffect>
                    <a14:imgEffect>
                      <a14:colorTemperature colorTemp="6703"/>
                    </a14:imgEffect>
                    <a14:imgEffect>
                      <a14:saturation sat="150000"/>
                    </a14:imgEffect>
                    <a14:imgEffect>
                      <a14:brightnessContrast bright="10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6" y="1941086"/>
            <a:ext cx="3526275" cy="1612011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940" y="3368016"/>
            <a:ext cx="3971341" cy="17003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3/12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49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035" y="624110"/>
            <a:ext cx="7280366" cy="1013101"/>
          </a:xfrm>
        </p:spPr>
        <p:txBody>
          <a:bodyPr>
            <a:normAutofit fontScale="90000"/>
          </a:bodyPr>
          <a:lstStyle/>
          <a:p>
            <a:pPr algn="r"/>
            <a: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کنتراست محدود شده برابری </a:t>
            </a:r>
            <a:r>
              <a:rPr lang="fa-IR" sz="2400" b="1" dirty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هیستوگرام </a:t>
            </a:r>
            <a: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تطبیقی</a:t>
            </a:r>
            <a:b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</a:br>
            <a: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(</a:t>
            </a:r>
            <a:r>
              <a:rPr lang="en-US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C</a:t>
            </a:r>
            <a:r>
              <a:rPr lang="en-US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ontrast </a:t>
            </a:r>
            <a:r>
              <a:rPr lang="en-US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L</a:t>
            </a:r>
            <a:r>
              <a:rPr lang="en-US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imited </a:t>
            </a:r>
            <a:r>
              <a:rPr lang="en-US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A</a:t>
            </a:r>
            <a:r>
              <a:rPr lang="en-US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daptive </a:t>
            </a:r>
            <a:r>
              <a:rPr lang="en-GB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H</a:t>
            </a:r>
            <a:r>
              <a:rPr lang="en-GB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istogram </a:t>
            </a:r>
            <a:r>
              <a:rPr lang="en-GB" sz="2400" b="1" dirty="0" smtClean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E</a:t>
            </a:r>
            <a:r>
              <a:rPr lang="en-GB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qualization</a:t>
            </a:r>
            <a:r>
              <a:rPr lang="fa-IR" sz="2400" b="1" dirty="0" smtClean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)</a:t>
            </a:r>
            <a:endParaRPr lang="fa-IR" sz="24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5360" y="1637212"/>
            <a:ext cx="7559041" cy="4266892"/>
          </a:xfrm>
        </p:spPr>
        <p:txBody>
          <a:bodyPr>
            <a:normAutofit/>
          </a:bodyPr>
          <a:lstStyle/>
          <a:p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این روش شامل پردازش نواحی کوچکی از تصویر با استفاده از مشخصات هیستوگرام مربوط به هرکدام است</a:t>
            </a:r>
          </a:p>
          <a:p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بهسازی کمتر در نواحی یکنواخت برای جلوگیری از تشدید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نویز</a:t>
            </a:r>
          </a:p>
          <a:p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 تایل های همسایه با استفاده از درونیابی دوخطی ترکیب شده تا مرز های ساختگی حذف شود(حذف اثر بلوکی)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95840" y="5817340"/>
            <a:ext cx="6518080" cy="1040660"/>
          </a:xfrm>
        </p:spPr>
        <p:txBody>
          <a:bodyPr/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</a:rPr>
              <a:t>g = </a:t>
            </a:r>
            <a:r>
              <a:rPr lang="en-US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</a:rPr>
              <a:t>adapthisteq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</a:rPr>
              <a:t> ( f, ’</a:t>
            </a:r>
            <a:r>
              <a:rPr lang="en-US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</a:rPr>
              <a:t>NumTiles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</a:rPr>
              <a:t>’ , [8 8] )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Sylfaen" panose="010A050205030603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69" y="3706718"/>
            <a:ext cx="7378700" cy="2267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4/12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6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914" y="6389571"/>
            <a:ext cx="7611291" cy="348343"/>
          </a:xfrm>
        </p:spPr>
        <p:txBody>
          <a:bodyPr>
            <a:noAutofit/>
          </a:bodyPr>
          <a:lstStyle/>
          <a:p>
            <a:r>
              <a:rPr lang="fa-IR" sz="1600" b="1" dirty="0">
                <a:solidFill>
                  <a:schemeClr val="tx1"/>
                </a:solidFill>
                <a:cs typeface="B Nazanin" panose="00000400000000000000" pitchFamily="2" charset="-78"/>
              </a:rPr>
              <a:t>دیاگرام متد پیشنهادی هیستوگرام اصلاح شده بر اساس بهبود کانتراست با به کارگیری فیلترینگ همریخت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5604" y="208322"/>
            <a:ext cx="5712601" cy="6087975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5/12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74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998720" y="624110"/>
            <a:ext cx="3535679" cy="438336"/>
          </a:xfrm>
        </p:spPr>
        <p:txBody>
          <a:bodyPr>
            <a:noAutofit/>
          </a:bodyPr>
          <a:lstStyle/>
          <a:p>
            <a:pPr algn="r"/>
            <a:r>
              <a:rPr lang="fa-IR" sz="2400" b="1" dirty="0" smtClean="0">
                <a:cs typeface="B Nazanin" panose="00000400000000000000" pitchFamily="2" charset="-78"/>
              </a:rPr>
              <a:t>مرحله 1)  اصلاح هیستوگرام</a:t>
            </a:r>
            <a:endParaRPr lang="fa-IR" sz="2400" b="1" dirty="0">
              <a:cs typeface="B Nazanin" panose="00000400000000000000" pitchFamily="2" charset="-78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53144" y="1257140"/>
            <a:ext cx="7985760" cy="5004323"/>
          </a:xfrm>
        </p:spPr>
        <p:txBody>
          <a:bodyPr>
            <a:normAutofit/>
          </a:bodyPr>
          <a:lstStyle/>
          <a:p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برابری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هیستوگرام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هیچ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مکانیسمی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برای کنترل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سطح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بهبود تصویر خروجی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ارائه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نمی دهد</a:t>
            </a:r>
          </a:p>
          <a:p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این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متد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جدید ، توانایی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کنترل سطوحی از بهبود کانتراست در تصاویر خروجی را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دارد</a:t>
            </a:r>
          </a:p>
          <a:p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هدف دستیابی به هیستوگرام اصلاح شده ی</a:t>
            </a:r>
            <a:r>
              <a:rPr lang="en-GB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H</a:t>
            </a:r>
            <a:r>
              <a:rPr lang="el-G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´ 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از هیستوگرام ورودی </a:t>
            </a:r>
            <a:r>
              <a:rPr lang="en-GB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H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است</a:t>
            </a:r>
          </a:p>
          <a:p>
            <a:pPr marL="0" indent="0">
              <a:buNone/>
            </a:pPr>
            <a:endParaRPr lang="fa-IR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en-GB" sz="2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H</a:t>
            </a:r>
            <a:r>
              <a:rPr lang="el-GR" sz="2200" dirty="0">
                <a:latin typeface="Sylfaen" panose="010A0502050306030303" pitchFamily="18" charset="0"/>
                <a:cs typeface="B Nazanin" panose="00000400000000000000" pitchFamily="2" charset="-78"/>
              </a:rPr>
              <a:t>´</a:t>
            </a:r>
            <a:r>
              <a:rPr lang="en-GB" sz="2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NewRoman"/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NewRoman"/>
                <a:cs typeface="B Nazanin" panose="00000400000000000000" pitchFamily="2" charset="-78"/>
              </a:rPr>
              <a:t> </a:t>
            </a:r>
            <a:r>
              <a:rPr lang="fa-IR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TimesNewRoman"/>
                <a:cs typeface="B Nazanin" panose="00000400000000000000" pitchFamily="2" charset="-78"/>
              </a:rPr>
              <a:t>: هیستوگرام </a:t>
            </a:r>
            <a:r>
              <a:rPr lang="fa-IR" sz="2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NewRoman"/>
                <a:cs typeface="B Nazanin" panose="00000400000000000000" pitchFamily="2" charset="-78"/>
              </a:rPr>
              <a:t>اصلاح شده                     </a:t>
            </a:r>
            <a:r>
              <a:rPr lang="en-GB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H</a:t>
            </a:r>
            <a:r>
              <a:rPr lang="el-GR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´=</a:t>
            </a:r>
            <a:r>
              <a:rPr lang="en-US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el-GR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α</a:t>
            </a:r>
            <a:r>
              <a:rPr lang="en-GB" sz="2200" b="1" dirty="0">
                <a:latin typeface="Sylfaen" panose="010A0502050306030303" pitchFamily="18" charset="0"/>
                <a:cs typeface="B Nazanin" panose="00000400000000000000" pitchFamily="2" charset="-78"/>
              </a:rPr>
              <a:t>H+(1 </a:t>
            </a:r>
            <a:r>
              <a:rPr lang="en-GB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− </a:t>
            </a:r>
            <a:r>
              <a:rPr lang="el-GR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α)</a:t>
            </a:r>
            <a:r>
              <a:rPr lang="en-GB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Hu</a:t>
            </a:r>
            <a:r>
              <a:rPr lang="fa-IR" sz="22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            </a:t>
            </a:r>
            <a:r>
              <a:rPr lang="en-US" sz="2200" b="1" dirty="0">
                <a:latin typeface="Sylfaen" panose="010A0502050306030303" pitchFamily="18" charset="0"/>
              </a:rPr>
              <a:t>0</a:t>
            </a:r>
            <a:r>
              <a:rPr lang="fa-IR" sz="2200" b="1" dirty="0">
                <a:latin typeface="Sylfaen" panose="010A0502050306030303" pitchFamily="18" charset="0"/>
              </a:rPr>
              <a:t> ≤ </a:t>
            </a:r>
            <a:r>
              <a:rPr lang="el-GR" sz="2200" b="1" dirty="0">
                <a:latin typeface="Sylfaen" panose="010A0502050306030303" pitchFamily="18" charset="0"/>
                <a:cs typeface="B Nazanin" panose="00000400000000000000" pitchFamily="2" charset="-78"/>
              </a:rPr>
              <a:t>α</a:t>
            </a:r>
            <a:r>
              <a:rPr lang="fa-IR" sz="2200" b="1" dirty="0"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fa-IR" sz="2200" b="1" dirty="0">
                <a:latin typeface="Sylfaen" panose="010A0502050306030303" pitchFamily="18" charset="0"/>
              </a:rPr>
              <a:t>≤</a:t>
            </a:r>
            <a:r>
              <a:rPr lang="en-US" sz="2200" b="1" dirty="0">
                <a:latin typeface="Sylfaen" panose="010A0502050306030303" pitchFamily="18" charset="0"/>
              </a:rPr>
              <a:t>1 </a:t>
            </a:r>
            <a:endParaRPr lang="fa-IR" sz="2200" b="1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200" dirty="0" smtClean="0">
                <a:latin typeface="Cambria Math" panose="02040503050406030204" pitchFamily="18" charset="0"/>
              </a:rPr>
              <a:t> </a:t>
            </a:r>
            <a:r>
              <a:rPr lang="en-GB" sz="2200" dirty="0">
                <a:latin typeface="Sylfaen" panose="010A0502050306030303" pitchFamily="18" charset="0"/>
                <a:cs typeface="B Nazanin" panose="00000400000000000000" pitchFamily="2" charset="-78"/>
              </a:rPr>
              <a:t>H</a:t>
            </a:r>
            <a:r>
              <a:rPr lang="en-GB" sz="2200" dirty="0" smtClean="0">
                <a:latin typeface="TimesNewRoman"/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latin typeface="TimesNewRoman"/>
                <a:cs typeface="B Nazanin" panose="00000400000000000000" pitchFamily="2" charset="-78"/>
              </a:rPr>
              <a:t> : هیستوگرام </a:t>
            </a:r>
            <a:r>
              <a:rPr lang="fa-IR" sz="2200" dirty="0">
                <a:latin typeface="TimesNewRoman"/>
                <a:cs typeface="B Nazanin" panose="00000400000000000000" pitchFamily="2" charset="-78"/>
              </a:rPr>
              <a:t>تصویر </a:t>
            </a:r>
            <a:r>
              <a:rPr lang="fa-IR" sz="2200" dirty="0" smtClean="0">
                <a:latin typeface="TimesNewRoman"/>
                <a:cs typeface="B Nazanin" panose="00000400000000000000" pitchFamily="2" charset="-78"/>
              </a:rPr>
              <a:t>ورودی</a:t>
            </a:r>
            <a:endParaRPr lang="fa-IR" sz="22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200" dirty="0" smtClean="0">
                <a:cs typeface="B Nazanin" panose="00000400000000000000" pitchFamily="2" charset="-78"/>
              </a:rPr>
              <a:t>  </a:t>
            </a:r>
            <a:r>
              <a:rPr lang="en-GB" sz="2200" dirty="0" smtClean="0">
                <a:latin typeface="Sylfaen" panose="010A0502050306030303" pitchFamily="18" charset="0"/>
                <a:cs typeface="B Nazanin" panose="00000400000000000000" pitchFamily="2" charset="-78"/>
              </a:rPr>
              <a:t>Hu</a:t>
            </a:r>
            <a:r>
              <a:rPr lang="fa-IR" sz="2200" dirty="0" smtClean="0">
                <a:latin typeface="Sylfaen" panose="010A0502050306030303" pitchFamily="18" charset="0"/>
                <a:cs typeface="B Nazanin" panose="00000400000000000000" pitchFamily="2" charset="-78"/>
              </a:rPr>
              <a:t> :</a:t>
            </a:r>
            <a:r>
              <a:rPr lang="en-GB" sz="2200" dirty="0" smtClean="0"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fa-IR" sz="2200" dirty="0" smtClean="0">
                <a:cs typeface="B Nazanin" panose="00000400000000000000" pitchFamily="2" charset="-78"/>
              </a:rPr>
              <a:t>هیستوگرام یکنواخت شده </a:t>
            </a:r>
          </a:p>
          <a:p>
            <a:pPr marL="0" indent="0">
              <a:buNone/>
            </a:pPr>
            <a:endParaRPr lang="fa-IR" sz="22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2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2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400" dirty="0" smtClean="0">
              <a:cs typeface="B Nazanin" panose="00000400000000000000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486697"/>
            <a:ext cx="4180116" cy="3309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6/12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31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286" y="624110"/>
            <a:ext cx="7228114" cy="1280890"/>
          </a:xfrm>
        </p:spPr>
        <p:txBody>
          <a:bodyPr>
            <a:normAutofit/>
          </a:bodyPr>
          <a:lstStyle/>
          <a:p>
            <a:pPr algn="r"/>
            <a:r>
              <a:rPr lang="fa-IR" sz="2400" b="1" dirty="0">
                <a:latin typeface="Sylfaen" panose="010A0502050306030303" pitchFamily="18" charset="0"/>
                <a:cs typeface="B Nazanin" panose="00000400000000000000" pitchFamily="2" charset="-78"/>
              </a:rPr>
              <a:t>مرحله </a:t>
            </a:r>
            <a:r>
              <a:rPr lang="fa-IR" sz="24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2)  </a:t>
            </a:r>
            <a:r>
              <a:rPr lang="fa-IR" sz="2400" b="1" dirty="0">
                <a:latin typeface="Sylfaen" panose="010A0502050306030303" pitchFamily="18" charset="0"/>
                <a:cs typeface="B Nazanin" panose="00000400000000000000" pitchFamily="2" charset="-78"/>
              </a:rPr>
              <a:t>فیلترینگ </a:t>
            </a:r>
            <a:r>
              <a:rPr lang="fa-IR" sz="24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همریخت (</a:t>
            </a:r>
            <a:r>
              <a:rPr lang="en-GB" sz="2400" b="1" dirty="0">
                <a:latin typeface="Yu Gothic" panose="020B0400000000000000" pitchFamily="34" charset="-128"/>
                <a:ea typeface="Yu Gothic" panose="020B0400000000000000" pitchFamily="34" charset="-128"/>
                <a:cs typeface="B Nazanin" panose="00000400000000000000" pitchFamily="2" charset="-78"/>
              </a:rPr>
              <a:t>Homomorphic Filtering</a:t>
            </a:r>
            <a:r>
              <a:rPr lang="fa-IR" sz="2400" b="1" dirty="0" smtClean="0">
                <a:latin typeface="Sylfaen" panose="010A0502050306030303" pitchFamily="18" charset="0"/>
                <a:cs typeface="B Nazanin" panose="00000400000000000000" pitchFamily="2" charset="-78"/>
              </a:rPr>
              <a:t>)</a:t>
            </a:r>
            <a:endParaRPr lang="fa-IR" sz="2400" b="1" dirty="0">
              <a:latin typeface="Sylfaen" panose="010A05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860030" y="1264554"/>
                <a:ext cx="7881257" cy="5236379"/>
              </a:xfrm>
            </p:spPr>
            <p:txBody>
              <a:bodyPr>
                <a:normAutofit/>
              </a:bodyPr>
              <a:lstStyle/>
              <a:p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بهبود </a:t>
                </a:r>
                <a:r>
                  <a:rPr lang="fa-IR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کانتراست میتواند منجر به افزایش </a:t>
                </a:r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نویزها هم </a:t>
                </a:r>
                <a:r>
                  <a:rPr lang="fa-IR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در بعضی از مناطق مهم تصویر </a:t>
                </a:r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شود</a:t>
                </a:r>
              </a:p>
              <a:p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استفاده از فیلترینگ همریخت </a:t>
                </a:r>
                <a:r>
                  <a:rPr lang="fa-IR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به منظور کاهش حجم نویزها در تصاویر برابری </a:t>
                </a:r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هیستوگرام</a:t>
                </a:r>
              </a:p>
              <a:p>
                <a:pPr marL="0" indent="0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= r (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x,y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 *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(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x,y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                   </a:t>
                </a:r>
                <a:r>
                  <a:rPr lang="fa-IR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(𝑦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,</a:t>
                </a:r>
                <a:r>
                  <a:rPr lang="fa-I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𝑥)</a:t>
                </a:r>
                <a:r>
                  <a:rPr lang="fa-IR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𝑓</a:t>
                </a:r>
              </a:p>
              <a:p>
                <a:r>
                  <a:rPr lang="fa-IR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تابع لگاریتمی به منظور تبدیل عملیات ضرب به جمع</a:t>
                </a:r>
              </a:p>
              <a:p>
                <a:pPr marL="0" indent="0">
                  <a:buNone/>
                </a:pPr>
                <a:endParaRPr lang="fa-IR" dirty="0" smtClean="0">
                  <a:solidFill>
                    <a:schemeClr val="tx1"/>
                  </a:solidFill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=Ln{r(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x,y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)}+Ln{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(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x,y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)}     </a:t>
                </a:r>
                <a:r>
                  <a:rPr lang="fa-IR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{(</a:t>
                </a:r>
                <a:r>
                  <a:rPr lang="fa-I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𝑦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,</a:t>
                </a:r>
                <a:r>
                  <a:rPr lang="fa-I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𝑥)</a:t>
                </a:r>
                <a:r>
                  <a:rPr lang="fa-IR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𝑓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Ln{</a:t>
                </a:r>
                <a:endParaRPr lang="fa-IR" sz="20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fa-IR" dirty="0" smtClean="0">
                  <a:solidFill>
                    <a:schemeClr val="tx1"/>
                  </a:solidFill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:r>
                  <a:rPr lang="fa-IR" sz="19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بعد </a:t>
                </a:r>
                <a:r>
                  <a:rPr lang="fa-IR" sz="19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از </a:t>
                </a:r>
                <a:r>
                  <a:rPr lang="fa-IR" sz="19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فیلترینگ همریخت نرمال سازی </a:t>
                </a:r>
                <a:r>
                  <a:rPr lang="fa-IR" sz="19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تصویر را </a:t>
                </a:r>
                <a:r>
                  <a:rPr lang="fa-IR" sz="19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انجام می دهیم :</a:t>
                </a:r>
              </a:p>
              <a:p>
                <a:pPr marL="0" indent="0">
                  <a:buNone/>
                </a:pPr>
                <a:r>
                  <a:rPr lang="fa-IR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a-IR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fa-IR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𝑦</a:t>
                </a:r>
                <a:r>
                  <a:rPr lang="en-US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fa-IR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𝑥)𝑓 *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a-IR" sz="3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𝑚𝑖</m:t>
                        </m:r>
                      </m:num>
                      <m:den>
                        <m:r>
                          <m:rPr>
                            <m:nor/>
                          </m:rPr>
                          <a:rPr lang="fa-IR" sz="3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𝑚𝑜</m:t>
                        </m:r>
                      </m:den>
                    </m:f>
                  </m:oMath>
                </a14:m>
                <a:r>
                  <a:rPr lang="fa-IR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(𝑦</a:t>
                </a:r>
                <a:r>
                  <a:rPr lang="en-US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fa-IR" sz="3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𝑥)𝑔 </a:t>
                </a:r>
              </a:p>
              <a:p>
                <a:pPr marL="0" lvl="0" indent="0">
                  <a:buClr>
                    <a:srgbClr val="353535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a-IR" sz="1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B Nazanin" panose="00000400000000000000" pitchFamily="2" charset="-78"/>
                        </a:rPr>
                        <m:t>𝑋</m:t>
                      </m:r>
                      <m:r>
                        <a:rPr lang="en-US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𝑚𝑖</m:t>
                      </m:r>
                      <m:r>
                        <a:rPr lang="fa-IR" sz="19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a-IR" sz="1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fa-IR" sz="190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m:t>میانگین </m:t>
                      </m:r>
                      <m:r>
                        <m:rPr>
                          <m:nor/>
                        </m:rPr>
                        <a:rPr lang="fa-IR" sz="1900" b="0" i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m:t>روشنایی</m:t>
                      </m:r>
                      <m:r>
                        <m:rPr>
                          <m:nor/>
                        </m:rPr>
                        <a:rPr lang="fa-IR" sz="190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m:t> تصویر ورودی</m:t>
                      </m:r>
                    </m:oMath>
                  </m:oMathPara>
                </a14:m>
                <a:endParaRPr lang="fa-IR" sz="1900" dirty="0">
                  <a:solidFill>
                    <a:schemeClr val="tx1"/>
                  </a:solidFill>
                  <a:latin typeface="Cambria Math" panose="02040503050406030204" pitchFamily="18" charset="0"/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a-IR" sz="1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B Nazanin" panose="00000400000000000000" pitchFamily="2" charset="-78"/>
                        </a:rPr>
                        <m:t>𝑋</m:t>
                      </m:r>
                      <m:r>
                        <a:rPr lang="en-US" sz="1900" i="1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900" b="0" i="1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1900" b="0" i="1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a-IR" sz="1900" b="0" i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fa-IR" sz="190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m:t>میانگین روشنایی</m:t>
                      </m:r>
                      <m:r>
                        <m:rPr>
                          <m:nor/>
                        </m:rPr>
                        <a:rPr lang="fa-IR" sz="1900" b="0" i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m:t> ت</m:t>
                      </m:r>
                      <m:r>
                        <m:rPr>
                          <m:nor/>
                        </m:rPr>
                        <a:rPr lang="fa-IR" sz="1900">
                          <a:cs typeface="B Nazanin" panose="00000400000000000000" pitchFamily="2" charset="-78"/>
                        </a:rPr>
                        <m:t>صویر تولید شده بعد از فیلترینگ همریخت</m:t>
                      </m:r>
                    </m:oMath>
                  </m:oMathPara>
                </a14:m>
                <a:endParaRPr lang="fa-IR" sz="1900" dirty="0" smtClean="0">
                  <a:latin typeface="Cambria Math" panose="02040503050406030204" pitchFamily="18" charset="0"/>
                  <a:cs typeface="B Nazanin" panose="00000400000000000000" pitchFamily="2" charset="-78"/>
                </a:endParaRP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60030" y="1264554"/>
                <a:ext cx="7881257" cy="5236379"/>
              </a:xfrm>
              <a:blipFill>
                <a:blip r:embed="rId2"/>
                <a:stretch>
                  <a:fillRect t="-931" r="-1237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7/12</a:t>
            </a:r>
            <a:endParaRPr lang="fa-IR" sz="16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0" y="2089666"/>
            <a:ext cx="3291842" cy="373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3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7554" y="297067"/>
            <a:ext cx="2090059" cy="804096"/>
          </a:xfrm>
        </p:spPr>
        <p:txBody>
          <a:bodyPr>
            <a:noAutofit/>
          </a:bodyPr>
          <a:lstStyle/>
          <a:p>
            <a:r>
              <a:rPr lang="fa-IR" sz="2800" b="1" dirty="0" smtClean="0">
                <a:cs typeface="B Nazanin" panose="00000400000000000000" pitchFamily="2" charset="-78"/>
              </a:rPr>
              <a:t>نتایج تجربی</a:t>
            </a:r>
            <a:endParaRPr lang="fa-IR" sz="2800" b="1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70" y="879564"/>
            <a:ext cx="7968343" cy="5978435"/>
          </a:xfrm>
        </p:spPr>
        <p:txBody>
          <a:bodyPr>
            <a:normAutofit/>
          </a:bodyPr>
          <a:lstStyle/>
          <a:p>
            <a:r>
              <a:rPr lang="fa-IR" sz="2200" dirty="0" smtClean="0">
                <a:cs typeface="B Nazanin" panose="00000400000000000000" pitchFamily="2" charset="-78"/>
              </a:rPr>
              <a:t>مقایسه با برخی متدهای </a:t>
            </a:r>
            <a:r>
              <a:rPr lang="fa-IR" sz="2200" dirty="0">
                <a:cs typeface="B Nazanin" panose="00000400000000000000" pitchFamily="2" charset="-78"/>
              </a:rPr>
              <a:t>بهبود </a:t>
            </a:r>
            <a:r>
              <a:rPr lang="fa-IR" sz="2200" dirty="0" smtClean="0">
                <a:cs typeface="B Nazanin" panose="00000400000000000000" pitchFamily="2" charset="-78"/>
              </a:rPr>
              <a:t>کانتراست</a:t>
            </a:r>
          </a:p>
          <a:p>
            <a:endParaRPr lang="fa-IR" dirty="0" smtClean="0"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  <a:p>
            <a:endParaRPr lang="fa-IR" dirty="0" smtClean="0"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  <a:p>
            <a:endParaRPr lang="fa-IR" dirty="0" smtClean="0"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  <a:p>
            <a:endParaRPr lang="fa-IR" dirty="0" smtClean="0"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  <a:p>
            <a:endParaRPr lang="fa-IR" dirty="0" smtClean="0"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1400" b="1" dirty="0" smtClean="0">
                <a:cs typeface="B Nazanin" panose="00000400000000000000" pitchFamily="2" charset="-78"/>
              </a:rPr>
              <a:t>                                نتایج </a:t>
            </a:r>
            <a:r>
              <a:rPr lang="fa-IR" sz="1400" b="1" dirty="0">
                <a:cs typeface="B Nazanin" panose="00000400000000000000" pitchFamily="2" charset="-78"/>
              </a:rPr>
              <a:t>تولید شده به </a:t>
            </a:r>
            <a:r>
              <a:rPr lang="fa-IR" sz="1400" b="1" dirty="0" smtClean="0">
                <a:cs typeface="B Nazanin" panose="00000400000000000000" pitchFamily="2" charset="-78"/>
              </a:rPr>
              <a:t>وسیله ی </a:t>
            </a:r>
            <a:r>
              <a:rPr lang="fa-IR" sz="1400" b="1" dirty="0">
                <a:cs typeface="B Nazanin" panose="00000400000000000000" pitchFamily="2" charset="-78"/>
              </a:rPr>
              <a:t>متدهای مختلف بر روی تصاویر </a:t>
            </a:r>
            <a:r>
              <a:rPr lang="fa-IR" sz="1400" b="1" dirty="0" smtClean="0">
                <a:cs typeface="B Nazanin" panose="00000400000000000000" pitchFamily="2" charset="-78"/>
              </a:rPr>
              <a:t>اشعه ی </a:t>
            </a:r>
            <a:r>
              <a:rPr lang="fa-IR" sz="1400" b="1" dirty="0">
                <a:cs typeface="B Nazanin" panose="00000400000000000000" pitchFamily="2" charset="-78"/>
              </a:rPr>
              <a:t>ایکس </a:t>
            </a:r>
            <a:r>
              <a:rPr lang="fa-IR" sz="1400" b="1" dirty="0" smtClean="0">
                <a:cs typeface="B Nazanin" panose="00000400000000000000" pitchFamily="2" charset="-78"/>
              </a:rPr>
              <a:t>قفسه ی سینه</a:t>
            </a:r>
          </a:p>
          <a:p>
            <a:pPr marL="0" indent="0">
              <a:buNone/>
            </a:pPr>
            <a:endParaRPr lang="fa-IR" sz="1400" dirty="0" smtClean="0">
              <a:cs typeface="B Nazanin" panose="00000400000000000000" pitchFamily="2" charset="-78"/>
            </a:endParaRPr>
          </a:p>
          <a:p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متدهای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دیگر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وقتی تصویر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دارای مناطق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تیره تر یا روشن تر باشد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, به خوبی کار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نمی کنند</a:t>
            </a:r>
            <a:endParaRPr lang="fa-IR" sz="20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87" y="1288453"/>
            <a:ext cx="6577201" cy="40063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8/12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35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144" y="252133"/>
            <a:ext cx="7036525" cy="412210"/>
          </a:xfrm>
        </p:spPr>
        <p:txBody>
          <a:bodyPr>
            <a:noAutofit/>
          </a:bodyPr>
          <a:lstStyle/>
          <a:p>
            <a:pPr algn="r"/>
            <a:r>
              <a:rPr lang="fa-IR" sz="2800" b="1" dirty="0">
                <a:cs typeface="B Nazanin" panose="00000400000000000000" pitchFamily="2" charset="-78"/>
              </a:rPr>
              <a:t>تشخیص نواحی سرطانی در </a:t>
            </a:r>
            <a:r>
              <a:rPr lang="fa-IR" sz="2800" b="1" dirty="0" smtClean="0">
                <a:cs typeface="B Nazanin" panose="00000400000000000000" pitchFamily="2" charset="-78"/>
              </a:rPr>
              <a:t>یک تصویر </a:t>
            </a:r>
            <a:r>
              <a:rPr lang="fa-IR" sz="2800" b="1" dirty="0">
                <a:cs typeface="B Nazanin" panose="00000400000000000000" pitchFamily="2" charset="-78"/>
              </a:rPr>
              <a:t>ماموگرافی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6" y="809896"/>
            <a:ext cx="8321243" cy="6048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(a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 تصویر </a:t>
            </a:r>
            <a:r>
              <a:rPr lang="fa-IR" sz="2000" dirty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اصلی اطلاعات شفافی 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درباره ی منطقه ی سرطانی ارائه نمی دهد</a:t>
            </a:r>
            <a:endParaRPr lang="fa-IR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Sylfaen" panose="010A0502050306030303" pitchFamily="18" charset="0"/>
              </a:rPr>
              <a:t>(b</a:t>
            </a:r>
            <a:r>
              <a:rPr lang="fa-IR" sz="2000" dirty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بهبود کانتراست تصویر </a:t>
            </a:r>
            <a:r>
              <a:rPr lang="fa-IR" sz="2000" dirty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ماموگرافی 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با برابری هیستوگرام و عدم کنترل روی روشنایی</a:t>
            </a:r>
            <a:endParaRPr lang="en-US" sz="2000" dirty="0" smtClean="0">
              <a:solidFill>
                <a:schemeClr val="tx1"/>
              </a:solidFill>
              <a:latin typeface="Sylfaen" panose="010A0502050306030303" pitchFamily="18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</a:rPr>
              <a:t>c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</a:rPr>
              <a:t>)</a:t>
            </a:r>
            <a:r>
              <a:rPr lang="en-GB" sz="2000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نتایج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بهتری تولید می کند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ولی پیش زمینه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پس زمینه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را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بطور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مساوی بهبود میدهد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که منجر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به افزایش نویز در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پس زمینه می شود.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(d</a:t>
            </a:r>
            <a:r>
              <a:rPr lang="fa-IR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 دارای نویز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Sylfaen" panose="010A0502050306030303" pitchFamily="18" charset="0"/>
                <a:cs typeface="B Nazanin" panose="00000400000000000000" pitchFamily="2" charset="-78"/>
              </a:rPr>
              <a:t>(e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 نتایج خیلی بهتری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در مقایسه</a:t>
            </a:r>
          </a:p>
          <a:p>
            <a:pPr marL="0" indent="0">
              <a:buNone/>
            </a:pP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با سایر متدها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تولید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می کند.</a:t>
            </a:r>
          </a:p>
          <a:p>
            <a:pPr marL="0" indent="0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000" dirty="0" smtClean="0">
              <a:cs typeface="B Nazanin" panose="00000400000000000000" pitchFamily="2" charset="-78"/>
            </a:endParaRPr>
          </a:p>
          <a:p>
            <a:pPr marL="0" indent="0" algn="ctr">
              <a:buNone/>
            </a:pPr>
            <a:r>
              <a:rPr lang="fa-IR" sz="1600" b="1" dirty="0" smtClean="0">
                <a:cs typeface="B Nazanin" panose="00000400000000000000" pitchFamily="2" charset="-78"/>
              </a:rPr>
              <a:t>                                                      نتایج </a:t>
            </a:r>
            <a:r>
              <a:rPr lang="fa-IR" sz="1600" b="1" dirty="0">
                <a:cs typeface="B Nazanin" panose="00000400000000000000" pitchFamily="2" charset="-78"/>
              </a:rPr>
              <a:t>تولید شده به </a:t>
            </a:r>
            <a:r>
              <a:rPr lang="fa-IR" sz="1600" b="1" dirty="0" smtClean="0">
                <a:cs typeface="B Nazanin" panose="00000400000000000000" pitchFamily="2" charset="-78"/>
              </a:rPr>
              <a:t>وسیله ی </a:t>
            </a:r>
            <a:r>
              <a:rPr lang="fa-IR" sz="1600" b="1" dirty="0">
                <a:cs typeface="B Nazanin" panose="00000400000000000000" pitchFamily="2" charset="-78"/>
              </a:rPr>
              <a:t>متدهای مختلف بر روی یک </a:t>
            </a:r>
            <a:r>
              <a:rPr lang="fa-IR" sz="1600" b="1" dirty="0" smtClean="0">
                <a:cs typeface="B Nazanin" panose="00000400000000000000" pitchFamily="2" charset="-78"/>
              </a:rPr>
              <a:t>بسته ی </a:t>
            </a:r>
            <a:r>
              <a:rPr lang="fa-IR" sz="1600" b="1" dirty="0">
                <a:cs typeface="B Nazanin" panose="00000400000000000000" pitchFamily="2" charset="-78"/>
              </a:rPr>
              <a:t>تصویر ماموگرافی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0" y="2156661"/>
            <a:ext cx="5092309" cy="4187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9/12</a:t>
            </a:r>
            <a:endParaRPr lang="fa-I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24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8583" y="624110"/>
            <a:ext cx="2455817" cy="429627"/>
          </a:xfrm>
        </p:spPr>
        <p:txBody>
          <a:bodyPr>
            <a:noAutofit/>
          </a:bodyPr>
          <a:lstStyle/>
          <a:p>
            <a:pPr algn="r"/>
            <a:r>
              <a:rPr lang="fa-IR" sz="2400" b="1" dirty="0">
                <a:cs typeface="B Nazanin" panose="00000400000000000000" pitchFamily="2" charset="-78"/>
              </a:rPr>
              <a:t>ارزیابی کیفیت تصویر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937" y="1147330"/>
            <a:ext cx="7898675" cy="5353604"/>
          </a:xfrm>
        </p:spPr>
        <p:txBody>
          <a:bodyPr>
            <a:normAutofit/>
          </a:bodyPr>
          <a:lstStyle/>
          <a:p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نتایج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کیفی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10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تصویر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پزشکی</a:t>
            </a:r>
          </a:p>
          <a:p>
            <a:r>
              <a:rPr lang="fa-IR" dirty="0" smtClean="0">
                <a:solidFill>
                  <a:schemeClr val="tx1"/>
                </a:solidFill>
                <a:latin typeface="TimesNewRoman"/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chemeClr val="tx1"/>
                </a:solidFill>
                <a:latin typeface="TimesNewRoman"/>
                <a:cs typeface="B Nazanin" panose="00000400000000000000" pitchFamily="2" charset="-78"/>
              </a:rPr>
              <a:t>جدول 1 نتایج خطای مطلق میانگین </a:t>
            </a:r>
            <a:r>
              <a:rPr lang="fa-IR" dirty="0" smtClean="0">
                <a:solidFill>
                  <a:schemeClr val="tx1"/>
                </a:solidFill>
                <a:latin typeface="TimesNewRoman"/>
                <a:cs typeface="B Nazanin" panose="00000400000000000000" pitchFamily="2" charset="-78"/>
              </a:rPr>
              <a:t>روشنایی </a:t>
            </a:r>
            <a:r>
              <a:rPr lang="fa-IR" dirty="0">
                <a:solidFill>
                  <a:schemeClr val="tx1"/>
                </a:solidFill>
                <a:latin typeface="TimesNewRoman"/>
                <a:cs typeface="B Nazanin" panose="00000400000000000000" pitchFamily="2" charset="-78"/>
              </a:rPr>
              <a:t>را نشان میدهد</a:t>
            </a:r>
            <a:r>
              <a:rPr lang="fa-IR" dirty="0" smtClean="0">
                <a:solidFill>
                  <a:schemeClr val="tx1"/>
                </a:solidFill>
                <a:latin typeface="TimesNewRoman"/>
                <a:cs typeface="B Nazanin" panose="00000400000000000000" pitchFamily="2" charset="-78"/>
              </a:rPr>
              <a:t>.</a:t>
            </a:r>
          </a:p>
          <a:p>
            <a:r>
              <a:rPr lang="fa-IR" dirty="0">
                <a:solidFill>
                  <a:srgbClr val="FF0000"/>
                </a:solidFill>
                <a:cs typeface="B Nazanin" panose="00000400000000000000" pitchFamily="2" charset="-78"/>
              </a:rPr>
              <a:t>خطای مطلق میانگین </a:t>
            </a:r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روشنایی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,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اختلاف میانگین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روشنایی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بین دو تصویر را محاسبه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میکند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که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 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 </a:t>
            </a:r>
            <a:r>
              <a:rPr lang="en-GB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𝑋</a:t>
            </a:r>
            <a:r>
              <a:rPr lang="en-GB" sz="105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𝑀 </a:t>
            </a:r>
            <a:r>
              <a:rPr lang="fa-IR" dirty="0" smtClean="0">
                <a:solidFill>
                  <a:schemeClr val="tx1"/>
                </a:solidFill>
                <a:latin typeface="Cambria Math" panose="02040503050406030204" pitchFamily="18" charset="0"/>
                <a:cs typeface="B Nazanin" panose="00000400000000000000" pitchFamily="2" charset="-78"/>
              </a:rPr>
              <a:t>و </a:t>
            </a:r>
            <a:r>
              <a:rPr lang="en-GB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𝑌</a:t>
            </a:r>
            <a:r>
              <a:rPr lang="en-GB" sz="105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𝑀</a:t>
            </a:r>
            <a:r>
              <a:rPr lang="fa-IR" sz="105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fa-IR" sz="1050" dirty="0" smtClean="0">
                <a:solidFill>
                  <a:schemeClr val="tx1"/>
                </a:solidFill>
                <a:latin typeface="Cambria Math" panose="02040503050406030204" pitchFamily="18" charset="0"/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chemeClr val="tx1"/>
                </a:solidFill>
                <a:latin typeface="Cambria Math" panose="02040503050406030204" pitchFamily="18" charset="0"/>
                <a:cs typeface="B Nazanin" panose="00000400000000000000" pitchFamily="2" charset="-78"/>
              </a:rPr>
              <a:t>به ترتیب میانگین </a:t>
            </a:r>
            <a:r>
              <a:rPr lang="fa-IR" dirty="0" smtClean="0">
                <a:solidFill>
                  <a:schemeClr val="tx1"/>
                </a:solidFill>
                <a:latin typeface="Cambria Math" panose="02040503050406030204" pitchFamily="18" charset="0"/>
                <a:cs typeface="B Nazanin" panose="00000400000000000000" pitchFamily="2" charset="-78"/>
              </a:rPr>
              <a:t>روشنایی </a:t>
            </a:r>
            <a:r>
              <a:rPr lang="fa-IR" dirty="0">
                <a:solidFill>
                  <a:schemeClr val="tx1"/>
                </a:solidFill>
                <a:latin typeface="Cambria Math" panose="02040503050406030204" pitchFamily="18" charset="0"/>
                <a:cs typeface="B Nazanin" panose="00000400000000000000" pitchFamily="2" charset="-78"/>
              </a:rPr>
              <a:t>تصویر ورودی و تصویر پردازش شده است</a:t>
            </a:r>
            <a:endParaRPr lang="fa-IR" dirty="0" smtClean="0">
              <a:solidFill>
                <a:schemeClr val="tx1"/>
              </a:solidFill>
              <a:latin typeface="TimesNewRoman"/>
              <a:cs typeface="B Nazanin" panose="00000400000000000000" pitchFamily="2" charset="-78"/>
            </a:endParaRPr>
          </a:p>
          <a:p>
            <a:pPr marL="0" indent="0" algn="l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AMBE=⎸</a:t>
            </a:r>
            <a:r>
              <a:rPr lang="en-GB" sz="20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𝑋</a:t>
            </a:r>
            <a:r>
              <a:rPr lang="en-GB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𝑀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sz="20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𝑌</a:t>
            </a:r>
            <a:r>
              <a:rPr lang="en-GB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𝑀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⎹</a:t>
            </a:r>
            <a:endParaRPr lang="fa-I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fa-IR" sz="2000" dirty="0">
              <a:latin typeface="Sylfaen" panose="010A0502050306030303" pitchFamily="18" charset="0"/>
            </a:endParaRPr>
          </a:p>
          <a:p>
            <a:pPr marL="0" indent="0" algn="l">
              <a:buNone/>
            </a:pPr>
            <a:endParaRPr lang="fa-IR" sz="2000" dirty="0" smtClean="0">
              <a:latin typeface="Sylfaen" panose="010A0502050306030303" pitchFamily="18" charset="0"/>
            </a:endParaRPr>
          </a:p>
          <a:p>
            <a:pPr marL="0" indent="0" algn="l">
              <a:buNone/>
            </a:pPr>
            <a:endParaRPr lang="fa-IR" sz="2000" dirty="0">
              <a:latin typeface="Sylfaen" panose="010A0502050306030303" pitchFamily="18" charset="0"/>
            </a:endParaRPr>
          </a:p>
          <a:p>
            <a:pPr marL="0" indent="0" algn="l">
              <a:buNone/>
            </a:pPr>
            <a:endParaRPr lang="fa-IR" sz="2000" dirty="0" smtClean="0">
              <a:latin typeface="Sylfaen" panose="010A0502050306030303" pitchFamily="18" charset="0"/>
            </a:endParaRPr>
          </a:p>
          <a:p>
            <a:pPr marL="0" indent="0" algn="l">
              <a:buNone/>
            </a:pPr>
            <a:endParaRPr lang="fa-IR" sz="2000" dirty="0">
              <a:latin typeface="Sylfaen" panose="010A0502050306030303" pitchFamily="18" charset="0"/>
            </a:endParaRPr>
          </a:p>
          <a:p>
            <a:pPr marL="0" indent="0">
              <a:buNone/>
            </a:pPr>
            <a:endParaRPr lang="fa-IR" sz="2000" dirty="0" smtClean="0">
              <a:latin typeface="Sylfaen" panose="010A0502050306030303" pitchFamily="18" charset="0"/>
            </a:endParaRPr>
          </a:p>
          <a:p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با توجه به سطر آخر متد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MH-FIL</a:t>
            </a:r>
            <a:r>
              <a:rPr lang="en-GB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خطای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مطلق میانگین درخشندگی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قابل قبولی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دارد</a:t>
            </a:r>
            <a:r>
              <a:rPr lang="fa-IR" dirty="0">
                <a:cs typeface="B Nazanin" panose="00000400000000000000" pitchFamily="2" charset="-78"/>
              </a:rPr>
              <a:t>.</a:t>
            </a:r>
            <a:endParaRPr lang="fa-IR" sz="2000" dirty="0">
              <a:latin typeface="Sylfaen" panose="010A0502050306030303" pitchFamily="18" charset="0"/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10/12</a:t>
            </a:r>
            <a:endParaRPr lang="fa-IR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62" y="2702786"/>
            <a:ext cx="57340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7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5691" y="130629"/>
                <a:ext cx="8238309" cy="60138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fa-IR" dirty="0" smtClean="0"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:r>
                  <a:rPr lang="fa-IR" dirty="0" smtClean="0">
                    <a:cs typeface="B Nazanin" panose="00000400000000000000" pitchFamily="2" charset="-78"/>
                  </a:rPr>
                  <a:t>       </a:t>
                </a:r>
                <a:r>
                  <a:rPr lang="fa-IR" sz="2400" b="1" dirty="0" smtClean="0">
                    <a:solidFill>
                      <a:srgbClr val="1CACE3">
                        <a:lumMod val="75000"/>
                      </a:srgbClr>
                    </a:solidFill>
                    <a:ea typeface="+mj-ea"/>
                    <a:cs typeface="B Nazanin" panose="00000400000000000000" pitchFamily="2" charset="-78"/>
                  </a:rPr>
                  <a:t>آنتروپی تصویر</a:t>
                </a:r>
                <a:endParaRPr lang="fa-IR" dirty="0" smtClean="0">
                  <a:cs typeface="B Nazanin" panose="00000400000000000000" pitchFamily="2" charset="-78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a-IR" sz="20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 بیانگر مقدار اطلاعات موجود در تصویر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a-IR" sz="20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وابسته به عناصر مختلف از جمله نسبت مستقیم با سایز </a:t>
                </a:r>
                <a:r>
                  <a:rPr lang="fa-IR" sz="20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تصویر</a:t>
                </a:r>
              </a:p>
              <a:p>
                <a:pPr marL="0" indent="0">
                  <a:buNone/>
                </a:pPr>
                <a:endParaRPr lang="fa-IR" dirty="0"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:endParaRPr lang="fa-IR" dirty="0" smtClean="0"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:endParaRPr lang="fa-IR" dirty="0">
                  <a:cs typeface="B Nazanin" panose="00000400000000000000" pitchFamily="2" charset="-78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dirty="0">
                        <a:latin typeface="Sylfaen" panose="010A0502050306030303" pitchFamily="18" charset="0"/>
                      </a:rPr>
                      <m:t>Ent</m:t>
                    </m:r>
                    <m:r>
                      <m:rPr>
                        <m:nor/>
                      </m:rPr>
                      <a:rPr lang="en-GB" sz="2400" dirty="0">
                        <a:latin typeface="Sylfaen" panose="010A0502050306030303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GB" sz="2400" dirty="0">
                        <a:latin typeface="Sylfaen" panose="010A0502050306030303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GB" sz="2400" dirty="0">
                        <a:latin typeface="Sylfaen" panose="010A0502050306030303" pitchFamily="18" charset="0"/>
                      </a:rPr>
                      <m:t>]=</m:t>
                    </m:r>
                    <m:r>
                      <a:rPr lang="fa-IR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pt-BR" sz="240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</m:ctrlPr>
                      </m:naryPr>
                      <m:sub>
                        <m:r>
                          <a:rPr lang="pt-BR" sz="240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𝑘</m:t>
                        </m:r>
                        <m:r>
                          <a:rPr lang="pt-BR" sz="240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=</m:t>
                        </m:r>
                        <m:r>
                          <a:rPr lang="pt-BR" sz="240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1</m:t>
                        </m:r>
                      </m:sup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𝑙𝑜𝑔</m:t>
                        </m:r>
                        <m:r>
                          <m:rPr>
                            <m:nor/>
                          </m:rPr>
                          <a:rPr lang="el-GR" sz="2400" baseline="-25000" dirty="0">
                            <a:latin typeface="Sylfaen" panose="010A0502050306030303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Sylfaen" panose="010A0502050306030303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fa-IR" sz="2400" dirty="0">
                    <a:latin typeface="Sylfaen" panose="010A0502050306030303" pitchFamily="18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 smtClean="0">
                    <a:latin typeface="Sylfaen" panose="010A0502050306030303" pitchFamily="18" charset="0"/>
                    <a:cs typeface="B Nazanin" panose="00000400000000000000" pitchFamily="2" charset="-78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fa-IR" sz="2400" dirty="0" smtClean="0">
                    <a:latin typeface="Sylfaen" panose="010A0502050306030303" pitchFamily="18" charset="0"/>
                    <a:cs typeface="B Nazanin" panose="00000400000000000000" pitchFamily="2" charset="-78"/>
                  </a:rPr>
                  <a:t>      </a:t>
                </a:r>
                <a:r>
                  <a:rPr lang="en-GB" dirty="0" smtClean="0">
                    <a:latin typeface="Sylfaen" panose="010A0502050306030303" pitchFamily="18" charset="0"/>
                    <a:cs typeface="B Nazanin" panose="00000400000000000000" pitchFamily="2" charset="-78"/>
                  </a:rPr>
                  <a:t>P(k</a:t>
                </a:r>
                <a:r>
                  <a:rPr lang="en-GB" dirty="0">
                    <a:latin typeface="Sylfaen" panose="010A0502050306030303" pitchFamily="18" charset="0"/>
                    <a:cs typeface="B Nazanin" panose="00000400000000000000" pitchFamily="2" charset="-78"/>
                  </a:rPr>
                  <a:t>) </a:t>
                </a:r>
                <a:r>
                  <a:rPr lang="fa-IR" dirty="0" smtClean="0">
                    <a:latin typeface="Sylfaen" panose="010A0502050306030303" pitchFamily="18" charset="0"/>
                    <a:cs typeface="B Nazanin" panose="00000400000000000000" pitchFamily="2" charset="-78"/>
                  </a:rPr>
                  <a:t> تابع </a:t>
                </a:r>
                <a:r>
                  <a:rPr lang="fa-IR" dirty="0">
                    <a:latin typeface="Sylfaen" panose="010A0502050306030303" pitchFamily="18" charset="0"/>
                    <a:cs typeface="B Nazanin" panose="00000400000000000000" pitchFamily="2" charset="-78"/>
                  </a:rPr>
                  <a:t>جرم احتمال هیستوگرام </a:t>
                </a:r>
                <a:r>
                  <a:rPr lang="fa-IR" dirty="0" smtClean="0">
                    <a:latin typeface="Sylfaen" panose="010A0502050306030303" pitchFamily="18" charset="0"/>
                    <a:cs typeface="B Nazanin" panose="00000400000000000000" pitchFamily="2" charset="-78"/>
                  </a:rPr>
                  <a:t>تصویر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5691" y="130629"/>
                <a:ext cx="8238309" cy="6013889"/>
              </a:xfrm>
              <a:blipFill>
                <a:blip r:embed="rId2"/>
                <a:stretch>
                  <a:fillRect r="-111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11/12</a:t>
            </a:r>
            <a:endParaRPr lang="fa-IR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16383160"/>
              </p:ext>
            </p:extLst>
          </p:nvPr>
        </p:nvGraphicFramePr>
        <p:xfrm>
          <a:off x="330924" y="2420983"/>
          <a:ext cx="4519749" cy="1123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570" y="3875042"/>
            <a:ext cx="5119824" cy="230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4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8354" y="624110"/>
            <a:ext cx="3196046" cy="542839"/>
          </a:xfrm>
        </p:spPr>
        <p:txBody>
          <a:bodyPr>
            <a:normAutofit/>
          </a:bodyPr>
          <a:lstStyle/>
          <a:p>
            <a:pPr algn="r"/>
            <a:r>
              <a:rPr lang="fa-IR" sz="2400" b="1" dirty="0" smtClean="0">
                <a:cs typeface="B Nazanin" panose="00000400000000000000" pitchFamily="2" charset="-78"/>
              </a:rPr>
              <a:t>خلاصه و نتیجه گیری:</a:t>
            </a:r>
            <a:endParaRPr lang="fa-IR" sz="2400" b="1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155" y="1166949"/>
            <a:ext cx="7463246" cy="4744273"/>
          </a:xfrm>
        </p:spPr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       نرمالسازی و تصویر کنتراست بالا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MH-FIL</a:t>
            </a:r>
            <a:r>
              <a:rPr lang="fa-IR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مناسب برای هر نوع تصویر پزشکی برای بهبود کنتراست بهینه</a:t>
            </a:r>
          </a:p>
          <a:p>
            <a:r>
              <a:rPr lang="fa-IR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نشان داده شده 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AMBE</a:t>
            </a:r>
            <a:r>
              <a:rPr lang="fa-IR" sz="20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و آنتروپی در متد پیشنهادی بسیار قابل قبول تر بوده </a:t>
            </a:r>
          </a:p>
          <a:p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طبق 2 معیار گفته شده این روش درخشندگی تصویر را حفظ کرده و کنتراست را بهبود می بخشد</a:t>
            </a:r>
          </a:p>
          <a:p>
            <a:endParaRPr lang="fa-IR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endParaRPr lang="fa-IR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0924" y="808776"/>
            <a:ext cx="98407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</a:rPr>
              <a:t>12/12</a:t>
            </a:r>
            <a:endParaRPr lang="fa-IR" sz="1600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715810302"/>
              </p:ext>
            </p:extLst>
          </p:nvPr>
        </p:nvGraphicFramePr>
        <p:xfrm>
          <a:off x="740227" y="1584960"/>
          <a:ext cx="4519749" cy="1123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354" y="1997298"/>
            <a:ext cx="256054" cy="2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9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71623" y="348342"/>
            <a:ext cx="6589199" cy="1139795"/>
          </a:xfrm>
        </p:spPr>
        <p:txBody>
          <a:bodyPr>
            <a:normAutofit/>
          </a:bodyPr>
          <a:lstStyle/>
          <a:p>
            <a:pPr marL="457200" indent="-457200" algn="r">
              <a:buFont typeface="Wingdings" panose="05000000000000000000" pitchFamily="2" charset="2"/>
              <a:buChar char="ü"/>
            </a:pPr>
            <a:r>
              <a:rPr lang="fa-IR" sz="3200" b="1" dirty="0" smtClean="0">
                <a:cs typeface="B Nazanin" panose="00000400000000000000" pitchFamily="2" charset="-78"/>
              </a:rPr>
              <a:t>نتایج شبیه سازی</a:t>
            </a:r>
            <a:br>
              <a:rPr lang="fa-IR" sz="3200" b="1" dirty="0" smtClean="0">
                <a:cs typeface="B Nazanin" panose="00000400000000000000" pitchFamily="2" charset="-78"/>
              </a:rPr>
            </a:br>
            <a:endParaRPr lang="fa-IR" sz="3200" b="1" dirty="0">
              <a:cs typeface="B Nazanin" panose="00000400000000000000" pitchFamily="2" charset="-78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998"/>
            <a:ext cx="9144000" cy="4974284"/>
          </a:xfrm>
        </p:spPr>
      </p:pic>
      <p:sp>
        <p:nvSpPr>
          <p:cNvPr id="6" name="TextBox 5"/>
          <p:cNvSpPr txBox="1"/>
          <p:nvPr/>
        </p:nvSpPr>
        <p:spPr>
          <a:xfrm>
            <a:off x="330924" y="755333"/>
            <a:ext cx="9840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الف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5816"/>
            <a:ext cx="784242" cy="5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0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14" y="651448"/>
            <a:ext cx="8033386" cy="56143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050" y="721690"/>
            <a:ext cx="9840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ب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5816"/>
            <a:ext cx="784242" cy="5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793" y="0"/>
            <a:ext cx="7524207" cy="68012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5816"/>
            <a:ext cx="784242" cy="592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7050" y="721690"/>
            <a:ext cx="9840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ج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912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1" y="1256483"/>
            <a:ext cx="8921399" cy="4952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593" y="730399"/>
            <a:ext cx="9840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د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5816"/>
            <a:ext cx="784242" cy="5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1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13" y="1245326"/>
            <a:ext cx="8165850" cy="5364480"/>
          </a:xfrm>
        </p:spPr>
      </p:pic>
      <p:sp>
        <p:nvSpPr>
          <p:cNvPr id="6" name="TextBox 5"/>
          <p:cNvSpPr txBox="1"/>
          <p:nvPr/>
        </p:nvSpPr>
        <p:spPr>
          <a:xfrm>
            <a:off x="435427" y="721690"/>
            <a:ext cx="9840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هـ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5816"/>
            <a:ext cx="784242" cy="5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3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832" y="1375954"/>
            <a:ext cx="6591985" cy="4065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6600" dirty="0" smtClean="0">
                <a:ln w="0"/>
                <a:solidFill>
                  <a:schemeClr val="accent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ranNastaliq" panose="02000503000000020003" pitchFamily="2" charset="0"/>
                <a:cs typeface="0 Baran" panose="00000400000000000000" pitchFamily="2" charset="-78"/>
              </a:rPr>
              <a:t>از توجه  شما متشکرم</a:t>
            </a:r>
            <a:endParaRPr lang="fa-IR" sz="6600" dirty="0">
              <a:ln w="0"/>
              <a:solidFill>
                <a:schemeClr val="accent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ranNastaliq" panose="02000503000000020003" pitchFamily="2" charset="0"/>
              <a:cs typeface="0 Ba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52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1528</TotalTime>
  <Words>837</Words>
  <Application>Microsoft Office PowerPoint</Application>
  <PresentationFormat>On-screen Show (4:3)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Yu Gothic</vt:lpstr>
      <vt:lpstr>Yu Gothic UI</vt:lpstr>
      <vt:lpstr>0 Baran</vt:lpstr>
      <vt:lpstr>Arial</vt:lpstr>
      <vt:lpstr>B Nazanin</vt:lpstr>
      <vt:lpstr>Calibri</vt:lpstr>
      <vt:lpstr>Cambria Math</vt:lpstr>
      <vt:lpstr>Century Gothic</vt:lpstr>
      <vt:lpstr>Century Gothic (Body)</vt:lpstr>
      <vt:lpstr>IranNastaliq</vt:lpstr>
      <vt:lpstr>Sylfaen</vt:lpstr>
      <vt:lpstr>Tahoma</vt:lpstr>
      <vt:lpstr>Times New Roman</vt:lpstr>
      <vt:lpstr>TimesNewRoman</vt:lpstr>
      <vt:lpstr>Wingdings</vt:lpstr>
      <vt:lpstr>Wingdings 3</vt:lpstr>
      <vt:lpstr>Wisp</vt:lpstr>
      <vt:lpstr>به نام خدا  هیستوگرام اصلاح شده بر اساس بهبود کانتراست با  به کارگیری فیلترینگ همریخت برای تصاویر پزشکی</vt:lpstr>
      <vt:lpstr>هدف</vt:lpstr>
      <vt:lpstr>راه حل های ارائه شده پیشین</vt:lpstr>
      <vt:lpstr> برابری هیستوگرام (Histogram Equalization ) </vt:lpstr>
      <vt:lpstr>کنتراست محدود شده برابری هیستوگرام تطبیقی (Contrast Limited Adaptive Histogram Equalization)</vt:lpstr>
      <vt:lpstr>دیاگرام متد پیشنهادی هیستوگرام اصلاح شده بر اساس بهبود کانتراست با به کارگیری فیلترینگ همریخت</vt:lpstr>
      <vt:lpstr>مرحله 1)  اصلاح هیستوگرام</vt:lpstr>
      <vt:lpstr>مرحله 2)  فیلترینگ همریخت (Homomorphic Filtering)</vt:lpstr>
      <vt:lpstr>نتایج تجربی</vt:lpstr>
      <vt:lpstr>تشخیص نواحی سرطانی در یک تصویر ماموگرافی</vt:lpstr>
      <vt:lpstr>ارزیابی کیفیت تصویر</vt:lpstr>
      <vt:lpstr>PowerPoint Presentation</vt:lpstr>
      <vt:lpstr>خلاصه و نتیجه گیری:</vt:lpstr>
      <vt:lpstr>نتایج شبیه سازی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ارایه</dc:title>
  <dc:creator>Windows User</dc:creator>
  <cp:lastModifiedBy>Windows User</cp:lastModifiedBy>
  <cp:revision>139</cp:revision>
  <dcterms:created xsi:type="dcterms:W3CDTF">2019-12-06T18:28:42Z</dcterms:created>
  <dcterms:modified xsi:type="dcterms:W3CDTF">2020-01-13T18:02:15Z</dcterms:modified>
</cp:coreProperties>
</file>